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10287000" cx="18288000"/>
  <p:notesSz cx="10287000" cy="18288000"/>
  <p:embeddedFontLst>
    <p:embeddedFont>
      <p:font typeface="Amatic SC"/>
      <p:regular r:id="rId19"/>
      <p:bold r:id="rId20"/>
    </p:embeddedFont>
    <p:embeddedFont>
      <p:font typeface="Source Code Pro"/>
      <p:regular r:id="rId21"/>
      <p:bold r:id="rId22"/>
      <p:italic r:id="rId23"/>
      <p:boldItalic r:id="rId24"/>
    </p:embeddedFont>
    <p:embeddedFont>
      <p:font typeface="Antoni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gQWtUrpmpDPZYhqhY/bRBWxYT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maticSC-bold.fntdata"/><Relationship Id="rId22" Type="http://schemas.openxmlformats.org/officeDocument/2006/relationships/font" Target="fonts/SourceCodePro-bold.fntdata"/><Relationship Id="rId21" Type="http://schemas.openxmlformats.org/officeDocument/2006/relationships/font" Target="fonts/SourceCodePro-regular.fntdata"/><Relationship Id="rId24" Type="http://schemas.openxmlformats.org/officeDocument/2006/relationships/font" Target="fonts/SourceCodePro-boldItalic.fntdata"/><Relationship Id="rId23" Type="http://schemas.openxmlformats.org/officeDocument/2006/relationships/font" Target="fonts/SourceCodePr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ntonio-bold.fntdata"/><Relationship Id="rId25" Type="http://schemas.openxmlformats.org/officeDocument/2006/relationships/font" Target="fonts/Antonio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AmaticSC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Presentar al equipo, al docente y el alcance: resumen de la Fase 2 (Sprint 2). El detalle completo está en el informe final.</a:t>
            </a:r>
            <a:endParaRPr/>
          </a:p>
        </p:txBody>
      </p:sp>
      <p:sp>
        <p:nvSpPr>
          <p:cNvPr id="80" name="Google Shape;8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Recorrido de la presentación: de la necesidad al producto y de ahí a cómo se construyó el MVP en el Sprint 2.</a:t>
            </a:r>
            <a:endParaRPr/>
          </a:p>
        </p:txBody>
      </p:sp>
      <p:sp>
        <p:nvSpPr>
          <p:cNvPr id="90" name="Google Shape;9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Introducir el proyecto y el objetivo de la presentación: contar lo hecho en el Sprint 2 hasta lograr el MVP.</a:t>
            </a:r>
            <a:endParaRPr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Contexto: coordinación dispersa e informal. Problema: no hay canal centralizado con búsqueda por ubicación, verificación de confiabilidad ni seguimiento del estado de la tarea.</a:t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Flujo: el solicitante publica, el ejecutor se postula, el solicitante acepta una postulación y la tarea pasa a «en curso»; coordinan por WhatsApp y al terminar se califican. Las pantallas mostradas son del mockup de diseño, no de la app final.</a:t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Objetivo del Sprint 2 según el acta del 14-09. Scrum + Kanban: ciclos cortos, tablero en Trello (Product Backlog, En progreso, Hecho), cada historia es una tarjeta con etiqueta de épica. Artefactos: Product Vision, Product Backlog, Sprint Backlog, Definition of Done, Plan de Pruebas y retrospectiva.</a:t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Desglose por épica: Épica 1: 4/4; Épica 2: 4/4; Épica 3: 5/5; Épica 4: 1/2. Queda en progreso la gestión de métodos de pago. Ser transparentes: el PIN y la compra de créditos están simulados.</a:t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Aplicación en React Native con Expo (Expo Go) y TypeScript. Backend como servicio con Supabase: Auth (sesiones JWT), API REST autogenerada (PostgREST), PostgreSQL y Storage. GitHub para el repositorio, Trello para Scrum + Kanban y Figma para el mockup.</a:t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Arquitectura cliente-servidor (BaaS / serverless): sin servidor propio no se usa Docker; la decisión está justificada en el Documento de Diseño. Explicar la comunicación entre la app, el SDK de Supabase, la API REST y PostgreSQL.</a:t>
            </a:r>
            <a:endParaRPr/>
          </a:p>
        </p:txBody>
      </p:sp>
      <p:sp>
        <p:nvSpPr>
          <p:cNvPr id="225" name="Google Shape;2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Modelo relacional de 7 tablas en PostgreSQL gestionado por Supabase: perfiles, trabajos, postulaciones, resenas, categorias, comunas y regiones. Mostrar el modelo ER y las relaciones principales.</a:t>
            </a:r>
            <a:endParaRPr/>
          </a:p>
        </p:txBody>
      </p:sp>
      <p:sp>
        <p:nvSpPr>
          <p:cNvPr id="235" name="Google Shape;2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Explicar con palabras simples el flujo del diagrama de secuencia (quién llama a quién) y qué acciones cubre cada caso de uso.</a:t>
            </a:r>
            <a:endParaRPr/>
          </a:p>
        </p:txBody>
      </p:sp>
      <p:sp>
        <p:nvSpPr>
          <p:cNvPr id="245" name="Google Shape;24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Contar el recorrido como historia. Sprint 1: diseño y planificación sin código. 14-09: planificación del Sprint 2. 29-09: la arquitectura cambió de Node.js + Express (MVC) a Supabase (BaaS). Octubre: aceptación directa pasó a postulación y la coordinación a WhatsApp; se actualizaron backlog, plan de pruebas y tarjetas. Reuniones con acta: 26-08, 14-09 y 29-09.</a:t>
            </a:r>
            <a:endParaRPr/>
          </a:p>
        </p:txBody>
      </p:sp>
      <p:sp>
        <p:nvSpPr>
          <p:cNvPr id="257" name="Google Shape;25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Cerrar con el balance de la fase y abrir preguntas. Todos los integrantes deben poder responder sobre cualquier parte del proyecto.</a:t>
            </a:r>
            <a:endParaRPr/>
          </a:p>
        </p:txBody>
      </p:sp>
      <p:sp>
        <p:nvSpPr>
          <p:cNvPr id="285" name="Google Shape;2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Expone: [asignar integrante]</a:t>
            </a:r>
            <a:br>
              <a:rPr lang="en-US"/>
            </a:br>
            <a:r>
              <a:rPr lang="en-US"/>
              <a:t>Abrir preguntas.</a:t>
            </a:r>
            <a:endParaRPr/>
          </a:p>
        </p:txBody>
      </p:sp>
      <p:sp>
        <p:nvSpPr>
          <p:cNvPr id="294" name="Google Shape;29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h62658053f7842d1d_3_220"/>
          <p:cNvSpPr/>
          <p:nvPr/>
        </p:nvSpPr>
        <p:spPr>
          <a:xfrm>
            <a:off x="0" y="0"/>
            <a:ext cx="18288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h62658053f7842d1d_3_220"/>
          <p:cNvSpPr txBox="1"/>
          <p:nvPr>
            <p:ph type="ctrTitle"/>
          </p:nvPr>
        </p:nvSpPr>
        <p:spPr>
          <a:xfrm>
            <a:off x="623400" y="784300"/>
            <a:ext cx="17041200" cy="53808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/>
        </p:txBody>
      </p:sp>
      <p:sp>
        <p:nvSpPr>
          <p:cNvPr id="16" name="Google Shape;16;h62658053f7842d1d_3_220"/>
          <p:cNvSpPr txBox="1"/>
          <p:nvPr>
            <p:ph idx="1" type="subTitle"/>
          </p:nvPr>
        </p:nvSpPr>
        <p:spPr>
          <a:xfrm>
            <a:off x="623400" y="7780800"/>
            <a:ext cx="17041200" cy="14124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b="1" sz="4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b="1" sz="42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b="1" sz="42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b="1" sz="42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b="1" sz="42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b="1" sz="42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b="1" sz="42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b="1" sz="42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b="1"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" name="Google Shape;17;h62658053f7842d1d_3_2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h62658053f7842d1d_3_225"/>
          <p:cNvSpPr txBox="1"/>
          <p:nvPr>
            <p:ph type="title"/>
          </p:nvPr>
        </p:nvSpPr>
        <p:spPr>
          <a:xfrm>
            <a:off x="5605500" y="1605000"/>
            <a:ext cx="7077000" cy="70770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20" name="Google Shape;20;h62658053f7842d1d_3_22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h62658053f7842d1d_3_228"/>
          <p:cNvSpPr txBox="1"/>
          <p:nvPr>
            <p:ph type="title"/>
          </p:nvPr>
        </p:nvSpPr>
        <p:spPr>
          <a:xfrm>
            <a:off x="623400" y="585700"/>
            <a:ext cx="17041200" cy="1602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9pPr>
          </a:lstStyle>
          <a:p/>
        </p:txBody>
      </p:sp>
      <p:sp>
        <p:nvSpPr>
          <p:cNvPr id="23" name="Google Shape;23;h62658053f7842d1d_3_228"/>
          <p:cNvSpPr txBox="1"/>
          <p:nvPr>
            <p:ph idx="1" type="body"/>
          </p:nvPr>
        </p:nvSpPr>
        <p:spPr>
          <a:xfrm>
            <a:off x="623400" y="2457350"/>
            <a:ext cx="17041200" cy="668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4" name="Google Shape;24;h62658053f7842d1d_3_22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h62658053f7842d1d_3_232"/>
          <p:cNvSpPr txBox="1"/>
          <p:nvPr>
            <p:ph type="title"/>
          </p:nvPr>
        </p:nvSpPr>
        <p:spPr>
          <a:xfrm>
            <a:off x="623400" y="585700"/>
            <a:ext cx="17041200" cy="1602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9pPr>
          </a:lstStyle>
          <a:p/>
        </p:txBody>
      </p:sp>
      <p:sp>
        <p:nvSpPr>
          <p:cNvPr id="27" name="Google Shape;27;h62658053f7842d1d_3_232"/>
          <p:cNvSpPr txBox="1"/>
          <p:nvPr>
            <p:ph idx="1" type="body"/>
          </p:nvPr>
        </p:nvSpPr>
        <p:spPr>
          <a:xfrm>
            <a:off x="623400" y="2457350"/>
            <a:ext cx="7999800" cy="668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8" name="Google Shape;28;h62658053f7842d1d_3_232"/>
          <p:cNvSpPr txBox="1"/>
          <p:nvPr>
            <p:ph idx="2" type="body"/>
          </p:nvPr>
        </p:nvSpPr>
        <p:spPr>
          <a:xfrm>
            <a:off x="9664800" y="2457350"/>
            <a:ext cx="7999800" cy="668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9" name="Google Shape;29;h62658053f7842d1d_3_23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h62658053f7842d1d_3_237"/>
          <p:cNvSpPr txBox="1"/>
          <p:nvPr>
            <p:ph type="title"/>
          </p:nvPr>
        </p:nvSpPr>
        <p:spPr>
          <a:xfrm>
            <a:off x="609600" y="618700"/>
            <a:ext cx="17075400" cy="1496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32" name="Google Shape;32;h62658053f7842d1d_3_23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h62658053f7842d1d_3_240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5" name="Google Shape;35;h62658053f7842d1d_3_240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6" name="Google Shape;36;h62658053f7842d1d_3_24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h62658053f7842d1d_3_244"/>
          <p:cNvSpPr txBox="1"/>
          <p:nvPr>
            <p:ph type="title"/>
          </p:nvPr>
        </p:nvSpPr>
        <p:spPr>
          <a:xfrm>
            <a:off x="980500" y="1052700"/>
            <a:ext cx="112374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h62658053f7842d1d_3_24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h62658053f7842d1d_3_247"/>
          <p:cNvSpPr/>
          <p:nvPr/>
        </p:nvSpPr>
        <p:spPr>
          <a:xfrm>
            <a:off x="9144000" y="-50"/>
            <a:ext cx="9144000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" name="Google Shape;42;h62658053f7842d1d_3_247"/>
          <p:cNvCxnSpPr/>
          <p:nvPr/>
        </p:nvCxnSpPr>
        <p:spPr>
          <a:xfrm>
            <a:off x="10059350" y="8991000"/>
            <a:ext cx="936600" cy="0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h62658053f7842d1d_3_247"/>
          <p:cNvSpPr txBox="1"/>
          <p:nvPr>
            <p:ph type="title"/>
          </p:nvPr>
        </p:nvSpPr>
        <p:spPr>
          <a:xfrm>
            <a:off x="531000" y="2162800"/>
            <a:ext cx="8090400" cy="3420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9pPr>
          </a:lstStyle>
          <a:p/>
        </p:txBody>
      </p:sp>
      <p:sp>
        <p:nvSpPr>
          <p:cNvPr id="44" name="Google Shape;44;h62658053f7842d1d_3_247"/>
          <p:cNvSpPr txBox="1"/>
          <p:nvPr>
            <p:ph idx="1" type="subTitle"/>
          </p:nvPr>
        </p:nvSpPr>
        <p:spPr>
          <a:xfrm>
            <a:off x="531000" y="5690446"/>
            <a:ext cx="8090400" cy="269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" name="Google Shape;45;h62658053f7842d1d_3_247"/>
          <p:cNvSpPr txBox="1"/>
          <p:nvPr>
            <p:ph idx="2" type="body"/>
          </p:nvPr>
        </p:nvSpPr>
        <p:spPr>
          <a:xfrm>
            <a:off x="9879000" y="144840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6" name="Google Shape;46;h62658053f7842d1d_3_24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h62658053f7842d1d_3_254"/>
          <p:cNvSpPr txBox="1"/>
          <p:nvPr>
            <p:ph idx="1" type="body"/>
          </p:nvPr>
        </p:nvSpPr>
        <p:spPr>
          <a:xfrm>
            <a:off x="639000" y="8461150"/>
            <a:ext cx="11997600" cy="1197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matic SC"/>
              <a:buNone/>
              <a:defRPr b="1" sz="48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9" name="Google Shape;49;h62658053f7842d1d_3_25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62658053f7842d1d_3_257"/>
          <p:cNvSpPr txBox="1"/>
          <p:nvPr>
            <p:ph hasCustomPrompt="1" type="title"/>
          </p:nvPr>
        </p:nvSpPr>
        <p:spPr>
          <a:xfrm>
            <a:off x="623400" y="2480550"/>
            <a:ext cx="17041200" cy="3963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0"/>
              <a:buNone/>
              <a:defRPr sz="24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0"/>
              <a:buNone/>
              <a:defRPr sz="24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0"/>
              <a:buNone/>
              <a:defRPr sz="24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0"/>
              <a:buNone/>
              <a:defRPr sz="24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0"/>
              <a:buNone/>
              <a:defRPr sz="24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0"/>
              <a:buNone/>
              <a:defRPr sz="24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0"/>
              <a:buNone/>
              <a:defRPr sz="24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0"/>
              <a:buNone/>
              <a:defRPr sz="24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0"/>
              <a:buNone/>
              <a:defRPr sz="24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h62658053f7842d1d_3_257"/>
          <p:cNvSpPr txBox="1"/>
          <p:nvPr>
            <p:ph idx="1" type="body"/>
          </p:nvPr>
        </p:nvSpPr>
        <p:spPr>
          <a:xfrm>
            <a:off x="623400" y="66092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3" name="Google Shape;53;h62658053f7842d1d_3_25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62658053f7842d1d_3_26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62658053f7842d1d_3_263"/>
          <p:cNvSpPr/>
          <p:nvPr/>
        </p:nvSpPr>
        <p:spPr>
          <a:xfrm>
            <a:off x="-914400" y="-914400"/>
            <a:ext cx="1737300" cy="3291900"/>
          </a:xfrm>
          <a:prstGeom prst="rect">
            <a:avLst/>
          </a:prstGeom>
          <a:solidFill>
            <a:srgbClr val="9A1E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h62658053f7842d1d_3_263"/>
          <p:cNvSpPr/>
          <p:nvPr/>
        </p:nvSpPr>
        <p:spPr>
          <a:xfrm>
            <a:off x="0" y="8869680"/>
            <a:ext cx="11247000" cy="1417200"/>
          </a:xfrm>
          <a:prstGeom prst="rect">
            <a:avLst/>
          </a:prstGeom>
          <a:solidFill>
            <a:srgbClr val="9A1E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h62658053f7842d1d_3_263"/>
          <p:cNvSpPr/>
          <p:nvPr/>
        </p:nvSpPr>
        <p:spPr>
          <a:xfrm>
            <a:off x="7406640" y="9509760"/>
            <a:ext cx="10972800" cy="777300"/>
          </a:xfrm>
          <a:prstGeom prst="rect">
            <a:avLst/>
          </a:prstGeom>
          <a:solidFill>
            <a:srgbClr val="520B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2/assets/image11.png" id="60" name="Google Shape;60;h62658053f7842d1d_3_2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002000" y="-86868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BRE">
  <p:cSld name="LIBRE">
    <p:bg>
      <p:bgPr>
        <a:solidFill>
          <a:srgbClr val="1A1A1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62658053f7842d1d_3_268"/>
          <p:cNvSpPr/>
          <p:nvPr/>
        </p:nvSpPr>
        <p:spPr>
          <a:xfrm>
            <a:off x="0" y="0"/>
            <a:ext cx="18288000" cy="915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h62658053f7842d1d_3_268"/>
          <p:cNvSpPr/>
          <p:nvPr/>
        </p:nvSpPr>
        <p:spPr>
          <a:xfrm>
            <a:off x="0" y="10186416"/>
            <a:ext cx="18288000" cy="1005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2/assets/image11.png" id="64" name="Google Shape;64;h62658053f7842d1d_3_2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002000" y="-86868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SCURO">
  <p:cSld name="OSCURO">
    <p:bg>
      <p:bgPr>
        <a:solidFill>
          <a:srgbClr val="1A1A1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62658053f7842d1d_3_272"/>
          <p:cNvSpPr/>
          <p:nvPr/>
        </p:nvSpPr>
        <p:spPr>
          <a:xfrm>
            <a:off x="0" y="0"/>
            <a:ext cx="18288000" cy="915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h62658053f7842d1d_3_272"/>
          <p:cNvSpPr/>
          <p:nvPr/>
        </p:nvSpPr>
        <p:spPr>
          <a:xfrm>
            <a:off x="0" y="10186416"/>
            <a:ext cx="18288000" cy="1005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h62658053f7842d1d_3_272"/>
          <p:cNvSpPr/>
          <p:nvPr/>
        </p:nvSpPr>
        <p:spPr>
          <a:xfrm>
            <a:off x="8229600" y="1965960"/>
            <a:ext cx="1828800" cy="639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2/assets/image11.png" id="69" name="Google Shape;69;h62658053f7842d1d_3_2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002000" y="-868680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h62658053f7842d1d_3_272"/>
          <p:cNvSpPr txBox="1"/>
          <p:nvPr>
            <p:ph type="title"/>
          </p:nvPr>
        </p:nvSpPr>
        <p:spPr>
          <a:xfrm>
            <a:off x="2377440" y="594360"/>
            <a:ext cx="13533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io"/>
              <a:buNone/>
              <a:defRPr b="0" i="0" sz="6000" u="none" cap="none" strike="noStrike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JO">
  <p:cSld name="ROJ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2/assets/image11.png" id="72" name="Google Shape;72;h62658053f7842d1d_3_2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0" y="-868680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h62658053f7842d1d_3_278"/>
          <p:cNvSpPr txBox="1"/>
          <p:nvPr>
            <p:ph type="title"/>
          </p:nvPr>
        </p:nvSpPr>
        <p:spPr>
          <a:xfrm>
            <a:off x="2377440" y="457200"/>
            <a:ext cx="13533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io"/>
              <a:buNone/>
              <a:defRPr b="0" i="0" sz="6000" u="none" cap="none" strike="noStrike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JO2">
  <p:cSld name="ROJO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62658053f7842d1d_3_281"/>
          <p:cNvSpPr/>
          <p:nvPr/>
        </p:nvSpPr>
        <p:spPr>
          <a:xfrm>
            <a:off x="0" y="9509760"/>
            <a:ext cx="18288000" cy="7773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2/assets/image11.png" id="76" name="Google Shape;76;h62658053f7842d1d_3_2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0" y="-86868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62658053f7842d1d_3_216"/>
          <p:cNvSpPr txBox="1"/>
          <p:nvPr>
            <p:ph type="title"/>
          </p:nvPr>
        </p:nvSpPr>
        <p:spPr>
          <a:xfrm>
            <a:off x="623400" y="585700"/>
            <a:ext cx="170412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400"/>
              <a:buFont typeface="Amatic SC"/>
              <a:buNone/>
              <a:defRPr b="1" sz="8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400"/>
              <a:buFont typeface="Amatic SC"/>
              <a:buNone/>
              <a:defRPr b="1" sz="8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400"/>
              <a:buFont typeface="Amatic SC"/>
              <a:buNone/>
              <a:defRPr b="1" sz="8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400"/>
              <a:buFont typeface="Amatic SC"/>
              <a:buNone/>
              <a:defRPr b="1" sz="8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400"/>
              <a:buFont typeface="Amatic SC"/>
              <a:buNone/>
              <a:defRPr b="1" sz="8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400"/>
              <a:buFont typeface="Amatic SC"/>
              <a:buNone/>
              <a:defRPr b="1" sz="8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400"/>
              <a:buFont typeface="Amatic SC"/>
              <a:buNone/>
              <a:defRPr b="1" sz="8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400"/>
              <a:buFont typeface="Amatic SC"/>
              <a:buNone/>
              <a:defRPr b="1" sz="8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400"/>
              <a:buFont typeface="Amatic SC"/>
              <a:buNone/>
              <a:defRPr b="1" sz="8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11" name="Google Shape;11;h62658053f7842d1d_3_216"/>
          <p:cNvSpPr txBox="1"/>
          <p:nvPr>
            <p:ph idx="1" type="body"/>
          </p:nvPr>
        </p:nvSpPr>
        <p:spPr>
          <a:xfrm>
            <a:off x="623400" y="2457350"/>
            <a:ext cx="17041200" cy="6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Code Pro"/>
              <a:buChar char="●"/>
              <a:defRPr sz="3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Code Pro"/>
              <a:buChar char="○"/>
              <a:defRPr sz="2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Code Pro"/>
              <a:buChar char="■"/>
              <a:defRPr sz="2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Code Pro"/>
              <a:buChar char="●"/>
              <a:defRPr sz="2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Code Pro"/>
              <a:buChar char="○"/>
              <a:defRPr sz="2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Code Pro"/>
              <a:buChar char="■"/>
              <a:defRPr sz="2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Code Pro"/>
              <a:buChar char="●"/>
              <a:defRPr sz="2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Code Pro"/>
              <a:buChar char="○"/>
              <a:defRPr sz="2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Code Pro"/>
              <a:buChar char="■"/>
              <a:defRPr sz="2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12" name="Google Shape;12;h62658053f7842d1d_3_2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2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2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2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2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2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2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2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2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jpg"/><Relationship Id="rId4" Type="http://schemas.openxmlformats.org/officeDocument/2006/relationships/image" Target="../media/image27.jpg"/><Relationship Id="rId5" Type="http://schemas.openxmlformats.org/officeDocument/2006/relationships/image" Target="../media/image26.jpg"/><Relationship Id="rId6" Type="http://schemas.openxmlformats.org/officeDocument/2006/relationships/image" Target="../media/image25.jpg"/><Relationship Id="rId7" Type="http://schemas.openxmlformats.org/officeDocument/2006/relationships/image" Target="../media/image2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/>
        </p:nvSpPr>
        <p:spPr>
          <a:xfrm>
            <a:off x="1124712" y="33832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600"/>
              <a:buFont typeface="Antonio"/>
              <a:buNone/>
            </a:pPr>
            <a:r>
              <a:rPr b="1" i="0" lang="en-US" sz="6600" u="none" cap="none" strike="noStrike">
                <a:solidFill>
                  <a:srgbClr val="E30613"/>
                </a:solidFill>
                <a:latin typeface="Antonio"/>
                <a:ea typeface="Antonio"/>
                <a:cs typeface="Antonio"/>
                <a:sym typeface="Antonio"/>
              </a:rPr>
              <a:t>MINI-TRABAJO</a:t>
            </a:r>
            <a:endParaRPr b="0" i="0" sz="66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124712" y="4663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1124712" y="557784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Presentador: Fabián Molina | Alexsander Atenas | Kevin Valenzuela</a:t>
            </a:r>
            <a:endParaRPr b="0" i="0" sz="18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24712" y="603504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Docente: Aldo Martinez | Capstone | 802D_PRS</a:t>
            </a:r>
            <a:endParaRPr b="0" i="0" sz="18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2/assets/image9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0300" y="2274900"/>
            <a:ext cx="8997701" cy="480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548640" y="0"/>
            <a:ext cx="54864" cy="102870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1463040" y="731520"/>
            <a:ext cx="7315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io"/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rPr>
              <a:t>ÍNDICE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463040" y="246888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0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651760" y="246888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463040" y="370332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0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2651760" y="370332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463040" y="493776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0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651760" y="493776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463040" y="617220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30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651760" y="617220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y metodología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463040" y="740664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30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651760" y="740664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Qué se hizo en el Sprint 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463040" y="864108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30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2651760" y="864108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692640" y="246888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30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0881360" y="246888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Arquitectura y componentes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9692640" y="370332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30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0881360" y="370332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692640" y="493776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30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0881360" y="493776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Secuencia y casos de uso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9692640" y="617220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30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881360" y="617220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Cómo se elaboró el sprint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9692640" y="740664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3000" u="none" cap="none" strike="noStrike">
              <a:solidFill>
                <a:srgbClr val="E306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9692640" y="864108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789925" y="74646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0" y="91440"/>
            <a:ext cx="6858000" cy="1009497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48640" y="3657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48640" y="4480560"/>
            <a:ext cx="6035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ntonio"/>
              <a:buNone/>
            </a:pPr>
            <a:r>
              <a:rPr b="0" i="0" lang="en-US" sz="5200" u="none" cap="none" strike="noStrike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rPr>
              <a:t>INTRODUCCIÓN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8412480" y="3017520"/>
            <a:ext cx="89611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Este trabajo resume la Fase 2 de «Mini-Trabajo», una aplicación orientada a la realización de trabajos del día a día, que permite a los usuarios generar ingresos mediante la ejecución de tareas puntuales. Se presenta qué se desarrolló en el Sprint 2 para lograr el MVP: qué se construyó, con qué tecnologías, cómo se estructura y cómo se elaboró el sprint.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/>
        </p:nvSpPr>
        <p:spPr>
          <a:xfrm>
            <a:off x="548640" y="3657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>
            <p:ph type="title"/>
          </p:nvPr>
        </p:nvSpPr>
        <p:spPr>
          <a:xfrm>
            <a:off x="2377440" y="594360"/>
            <a:ext cx="1353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io"/>
              <a:buNone/>
            </a:pPr>
            <a:r>
              <a:rPr lang="en-US" sz="6000">
                <a:solidFill>
                  <a:schemeClr val="lt1"/>
                </a:solidFill>
              </a:rPr>
              <a:t>PROBLEMA</a:t>
            </a:r>
            <a:endParaRPr sz="6000"/>
          </a:p>
        </p:txBody>
      </p:sp>
      <p:sp>
        <p:nvSpPr>
          <p:cNvPr id="133" name="Google Shape;133;p4"/>
          <p:cNvSpPr/>
          <p:nvPr/>
        </p:nvSpPr>
        <p:spPr>
          <a:xfrm>
            <a:off x="2377440" y="2560320"/>
            <a:ext cx="13533120" cy="6583680"/>
          </a:xfrm>
          <a:prstGeom prst="roundRect">
            <a:avLst>
              <a:gd fmla="val 3472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3108960" y="3017520"/>
            <a:ext cx="12070080" cy="5669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Chile, principalmente en contextos urbanos, existe una necesidad recurrente de coordinar tareas o trabajos ocasionales (mini trabajos) entre personas que requieren ayuda puntual y personas dispuestas a realizarlas a cambio de un pago.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Hoy quienes necesitan realizar o encontrar un mini-trabajo dependen de contactos personales, grupos de redes sociales o avisos informales. No existe un canal centralizado para publicar y encontrar tareas según ubicación, ni una forma de verificar la confiabilidad de la otra persona antes de coordinar, ni registro del estado de la tarea ni calificación posterior.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/>
        </p:nvSpPr>
        <p:spPr>
          <a:xfrm>
            <a:off x="548640" y="3657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>
            <p:ph type="title"/>
          </p:nvPr>
        </p:nvSpPr>
        <p:spPr>
          <a:xfrm>
            <a:off x="2377440" y="594360"/>
            <a:ext cx="1353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io"/>
              <a:buNone/>
            </a:pPr>
            <a:r>
              <a:rPr lang="en-US" sz="6000">
                <a:solidFill>
                  <a:schemeClr val="lt1"/>
                </a:solidFill>
              </a:rPr>
              <a:t>SOLUCIÓN</a:t>
            </a:r>
            <a:endParaRPr sz="6000"/>
          </a:p>
        </p:txBody>
      </p:sp>
      <p:sp>
        <p:nvSpPr>
          <p:cNvPr id="142" name="Google Shape;142;p5"/>
          <p:cNvSpPr/>
          <p:nvPr/>
        </p:nvSpPr>
        <p:spPr>
          <a:xfrm>
            <a:off x="914400" y="2468880"/>
            <a:ext cx="8229600" cy="6858000"/>
          </a:xfrm>
          <a:prstGeom prst="roundRect">
            <a:avLst>
              <a:gd fmla="val 3333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1463040" y="2834640"/>
            <a:ext cx="7132320" cy="612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plataforma centralizada donde solicitantes y ejecutores publican, buscan y visualizan mini-trabajos según cercanía. Los perfiles con historial y calificación generan confianza: el ejecutor se postula, el solicitante elige a quién asignar la tarea y ambos coordinan por WhatsApp. El seguimiento de estado (publicada, en curso, completada) ordena todo el ciclo de vida del trabajo. Las funciones premium pagadas dan sustento al modelo de negocio.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2/assets/image19.png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760" y="2468880"/>
            <a:ext cx="2560320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2/assets/image18.png"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07240" y="2468880"/>
            <a:ext cx="2560320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2/assets/image23.png" id="146" name="Google Shape;14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04720" y="2468880"/>
            <a:ext cx="2560320" cy="58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/>
        </p:nvSpPr>
        <p:spPr>
          <a:xfrm>
            <a:off x="9509760" y="85039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Mockup del diseño (Figma)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/>
        </p:nvSpPr>
        <p:spPr>
          <a:xfrm>
            <a:off x="548640" y="3657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>
            <p:ph type="title"/>
          </p:nvPr>
        </p:nvSpPr>
        <p:spPr>
          <a:xfrm>
            <a:off x="2377440" y="457200"/>
            <a:ext cx="1353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io"/>
              <a:buNone/>
            </a:pPr>
            <a:r>
              <a:rPr lang="en-US" sz="6000">
                <a:solidFill>
                  <a:schemeClr val="lt1"/>
                </a:solidFill>
              </a:rPr>
              <a:t>OBJETIVO Y METODOLOGÍA</a:t>
            </a:r>
            <a:endParaRPr sz="6000"/>
          </a:p>
        </p:txBody>
      </p:sp>
      <p:pic>
        <p:nvPicPr>
          <p:cNvPr descr="/home/claude/p2/assets/image3.png"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2194560"/>
            <a:ext cx="9262872" cy="64465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10360152" y="2121408"/>
            <a:ext cx="6446520" cy="6675120"/>
          </a:xfrm>
          <a:prstGeom prst="roundRect">
            <a:avLst>
              <a:gd fmla="val 3546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10789920" y="2377440"/>
            <a:ext cx="5669280" cy="62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Scrumban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Scrum para avanzar con entregas cortas (sprints), combinado con Kanban en Trello, donde las tareas se organizan por estado.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Objetivo del Sprint 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Iniciar el desarrollo de las primeras líneas de código de un MVP, tomando como base las épicas del Product Backlog y los KPIs.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Scrum: Kevin Valenzuela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Desarrolladores: Fabián Molina y Alexsander Atenas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/>
        </p:nvSpPr>
        <p:spPr>
          <a:xfrm>
            <a:off x="548640" y="3657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>
            <p:ph type="title"/>
          </p:nvPr>
        </p:nvSpPr>
        <p:spPr>
          <a:xfrm>
            <a:off x="2377440" y="594360"/>
            <a:ext cx="1353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io"/>
              <a:buNone/>
            </a:pPr>
            <a:r>
              <a:rPr lang="en-US" sz="6000">
                <a:solidFill>
                  <a:schemeClr val="lt1"/>
                </a:solidFill>
              </a:rPr>
              <a:t>QUÉ SE HIZO EN EL SPRINT 2</a:t>
            </a:r>
            <a:endParaRPr sz="6000"/>
          </a:p>
        </p:txBody>
      </p:sp>
      <p:sp>
        <p:nvSpPr>
          <p:cNvPr id="165" name="Google Shape;165;p7"/>
          <p:cNvSpPr/>
          <p:nvPr/>
        </p:nvSpPr>
        <p:spPr>
          <a:xfrm>
            <a:off x="914400" y="2240280"/>
            <a:ext cx="16459200" cy="822960"/>
          </a:xfrm>
          <a:prstGeom prst="roundRect">
            <a:avLst>
              <a:gd fmla="val 2222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 de 15 historias en Hecho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914400" y="3291840"/>
            <a:ext cx="3977640" cy="5577840"/>
          </a:xfrm>
          <a:prstGeom prst="roundRect">
            <a:avLst>
              <a:gd fmla="val 5747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1188720" y="34747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ÉPICA 1 · 4/4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1188720" y="3931920"/>
            <a:ext cx="3474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Registro y Perfil de Usuario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1188720" y="5029200"/>
            <a:ext cx="3474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Registro de cuenta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Inicio de sesión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Completar perfil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 reputación e historial de otro usuario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138928" y="3291840"/>
            <a:ext cx="3977640" cy="5577840"/>
          </a:xfrm>
          <a:prstGeom prst="roundRect">
            <a:avLst>
              <a:gd fmla="val 5747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5413248" y="34747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ÉPICA 2 · 4/4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5413248" y="3931920"/>
            <a:ext cx="3474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Publicación y Visualización de Tareas (Mapa)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5413248" y="5029200"/>
            <a:ext cx="3474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Publicar una tarea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 tareas cercanas en el mapa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Filtrar y buscar tareas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 detalle de una tarea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9363456" y="3291840"/>
            <a:ext cx="3977640" cy="5577840"/>
          </a:xfrm>
          <a:prstGeom prst="roundRect">
            <a:avLst>
              <a:gd fmla="val 5747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9637776" y="34747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ÉPICA 3 · 5/5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9637776" y="3931920"/>
            <a:ext cx="3474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Aceptación y Ciclo de Vida de la Tarea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9637776" y="5029200"/>
            <a:ext cx="3474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Aceptar una tarea (postulación)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Coordinar detalles (WhatsApp)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Marcar tarea como completada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Calificar al otro usuario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Cancelar una tarea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3587984" y="3291840"/>
            <a:ext cx="3977640" cy="5577840"/>
          </a:xfrm>
          <a:prstGeom prst="roundRect">
            <a:avLst>
              <a:gd fmla="val 5747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13862304" y="34747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ÉPICA 4 · 1/2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13862304" y="3931920"/>
            <a:ext cx="3474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Funcionalidades Premium (Monetización)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13862304" y="5029200"/>
            <a:ext cx="3474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Contratar destacado de perfil o tarea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Gestionar métodos de pago (en progreso)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914400" y="90525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Estado según el tablero de Trello (octubre de 2026). Simulado en esta fase: el PIN de verificación al iniciar sesión y la compra de créditos.</a:t>
            </a:r>
            <a:endParaRPr b="0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 txBox="1"/>
          <p:nvPr/>
        </p:nvSpPr>
        <p:spPr>
          <a:xfrm>
            <a:off x="548640" y="3657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>
            <p:ph type="title"/>
          </p:nvPr>
        </p:nvSpPr>
        <p:spPr>
          <a:xfrm>
            <a:off x="2377440" y="594360"/>
            <a:ext cx="1353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io"/>
              <a:buNone/>
            </a:pPr>
            <a:r>
              <a:rPr lang="en-US" sz="6000">
                <a:solidFill>
                  <a:schemeClr val="lt1"/>
                </a:solidFill>
              </a:rPr>
              <a:t>TECNOLOGÍAS</a:t>
            </a:r>
            <a:endParaRPr sz="6000"/>
          </a:p>
        </p:txBody>
      </p:sp>
      <p:sp>
        <p:nvSpPr>
          <p:cNvPr id="190" name="Google Shape;190;p8"/>
          <p:cNvSpPr/>
          <p:nvPr/>
        </p:nvSpPr>
        <p:spPr>
          <a:xfrm>
            <a:off x="914400" y="2377440"/>
            <a:ext cx="3977640" cy="3474720"/>
          </a:xfrm>
          <a:prstGeom prst="roundRect">
            <a:avLst>
              <a:gd fmla="val 657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2/assets/image5.png" id="191" name="Google Shape;1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0180" y="2537460"/>
            <a:ext cx="2926080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 txBox="1"/>
          <p:nvPr/>
        </p:nvSpPr>
        <p:spPr>
          <a:xfrm>
            <a:off x="1097280" y="448056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React Native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1001268" y="4983480"/>
            <a:ext cx="3612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 móvil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138928" y="2377440"/>
            <a:ext cx="3977640" cy="3474720"/>
          </a:xfrm>
          <a:prstGeom prst="roundRect">
            <a:avLst>
              <a:gd fmla="val 657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5321808" y="448056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5225796" y="4983480"/>
            <a:ext cx="3612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y pruebas en el celular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363456" y="2377440"/>
            <a:ext cx="3977640" cy="3474720"/>
          </a:xfrm>
          <a:prstGeom prst="roundRect">
            <a:avLst>
              <a:gd fmla="val 657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2/assets/image8.png" id="198" name="Google Shape;1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3596" y="2628900"/>
            <a:ext cx="173736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 txBox="1"/>
          <p:nvPr/>
        </p:nvSpPr>
        <p:spPr>
          <a:xfrm>
            <a:off x="9546336" y="448056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9450324" y="4983480"/>
            <a:ext cx="3612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Lenguaje tipado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3587984" y="2377440"/>
            <a:ext cx="3977640" cy="3474720"/>
          </a:xfrm>
          <a:prstGeom prst="roundRect">
            <a:avLst>
              <a:gd fmla="val 657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13770864" y="448056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13674852" y="4983480"/>
            <a:ext cx="3612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Autenticación, API y almacenamiento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914400" y="6126480"/>
            <a:ext cx="3977640" cy="3474720"/>
          </a:xfrm>
          <a:prstGeom prst="roundRect">
            <a:avLst>
              <a:gd fmla="val 657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2/assets/image10.png" id="205" name="Google Shape;20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4540" y="6377940"/>
            <a:ext cx="173736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 txBox="1"/>
          <p:nvPr/>
        </p:nvSpPr>
        <p:spPr>
          <a:xfrm>
            <a:off x="1097280" y="822960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1097280" y="8732520"/>
            <a:ext cx="3611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 de datos relacional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138928" y="6126480"/>
            <a:ext cx="3977640" cy="3474720"/>
          </a:xfrm>
          <a:prstGeom prst="roundRect">
            <a:avLst>
              <a:gd fmla="val 657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2/assets/image27.png" id="209" name="Google Shape;20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9068" y="6377940"/>
            <a:ext cx="173736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 txBox="1"/>
          <p:nvPr/>
        </p:nvSpPr>
        <p:spPr>
          <a:xfrm>
            <a:off x="5321808" y="822960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5321808" y="8732520"/>
            <a:ext cx="3611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Repositorio y control de versiones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9363456" y="6126480"/>
            <a:ext cx="3977640" cy="3474720"/>
          </a:xfrm>
          <a:prstGeom prst="roundRect">
            <a:avLst>
              <a:gd fmla="val 657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2/assets/image22.png" id="213" name="Google Shape;21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83596" y="6377940"/>
            <a:ext cx="173736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 txBox="1"/>
          <p:nvPr/>
        </p:nvSpPr>
        <p:spPr>
          <a:xfrm>
            <a:off x="9546336" y="822960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Trello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9450324" y="8732520"/>
            <a:ext cx="3612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Kanban del proyecto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3587984" y="6126480"/>
            <a:ext cx="3977640" cy="3474720"/>
          </a:xfrm>
          <a:prstGeom prst="roundRect">
            <a:avLst>
              <a:gd fmla="val 657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 txBox="1"/>
          <p:nvPr/>
        </p:nvSpPr>
        <p:spPr>
          <a:xfrm>
            <a:off x="13770864" y="822960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Figma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13674852" y="8732520"/>
            <a:ext cx="3612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Diseño del mockup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8" title="Supabase Icon - Colored - 990x1024 - zonalogo.co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567003" y="2560325"/>
            <a:ext cx="1679671" cy="1737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936725" y="6332200"/>
            <a:ext cx="1280167" cy="192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87913" y="2589163"/>
            <a:ext cx="1679676" cy="167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/>
          <p:nvPr/>
        </p:nvSpPr>
        <p:spPr>
          <a:xfrm>
            <a:off x="548640" y="3657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>
            <p:ph type="title"/>
          </p:nvPr>
        </p:nvSpPr>
        <p:spPr>
          <a:xfrm>
            <a:off x="2377440" y="594360"/>
            <a:ext cx="1353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io"/>
              <a:buNone/>
            </a:pPr>
            <a:r>
              <a:rPr lang="en-US" sz="6000">
                <a:solidFill>
                  <a:schemeClr val="lt1"/>
                </a:solidFill>
              </a:rPr>
              <a:t>ARQUITECTURA Y COMPONENTES</a:t>
            </a:r>
            <a:endParaRPr sz="6000"/>
          </a:p>
        </p:txBody>
      </p:sp>
      <p:sp>
        <p:nvSpPr>
          <p:cNvPr id="229" name="Google Shape;229;p9"/>
          <p:cNvSpPr/>
          <p:nvPr/>
        </p:nvSpPr>
        <p:spPr>
          <a:xfrm>
            <a:off x="914400" y="2377440"/>
            <a:ext cx="6675120" cy="6949440"/>
          </a:xfrm>
          <a:prstGeom prst="roundRect">
            <a:avLst>
              <a:gd fmla="val 3425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1371600" y="2743200"/>
            <a:ext cx="5852160" cy="630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Cliente-servidor sobre BaaS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•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 pasó de de una arquitectura MVC a Cliente-Servidor.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app móvil se comunica directo con Supabase mediante su SDK y su API REST (PostgREST), sin servidor intermedio dedicado.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Autenticación con Supabase Auth (sesiones JWT).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7400" y="3678200"/>
            <a:ext cx="9474926" cy="41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 txBox="1"/>
          <p:nvPr/>
        </p:nvSpPr>
        <p:spPr>
          <a:xfrm>
            <a:off x="548640" y="3657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/>
          <p:nvPr>
            <p:ph type="title"/>
          </p:nvPr>
        </p:nvSpPr>
        <p:spPr>
          <a:xfrm>
            <a:off x="2377440" y="594360"/>
            <a:ext cx="1353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io"/>
              <a:buNone/>
            </a:pPr>
            <a:r>
              <a:rPr lang="en-US" sz="6000">
                <a:solidFill>
                  <a:schemeClr val="lt1"/>
                </a:solidFill>
              </a:rPr>
              <a:t>BASE DE DATOS</a:t>
            </a:r>
            <a:endParaRPr sz="6000"/>
          </a:p>
        </p:txBody>
      </p:sp>
      <p:sp>
        <p:nvSpPr>
          <p:cNvPr id="239" name="Google Shape;239;p10"/>
          <p:cNvSpPr/>
          <p:nvPr/>
        </p:nvSpPr>
        <p:spPr>
          <a:xfrm>
            <a:off x="914400" y="2377440"/>
            <a:ext cx="6217920" cy="6949440"/>
          </a:xfrm>
          <a:prstGeom prst="roundRect">
            <a:avLst>
              <a:gd fmla="val 3676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1371600" y="2743200"/>
            <a:ext cx="5394960" cy="630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Supabase · PostgreSQL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 tablas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perfiles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trabajos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postulaciones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resenas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categorias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comunas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regiones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Imágenes en Supabase Storage (buckets </a:t>
            </a: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avatars</a:t>
            </a: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 y trabajos).</a:t>
            </a:r>
            <a:endParaRPr b="0" i="0" sz="2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5120" y="2377445"/>
            <a:ext cx="7620000" cy="642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"/>
          <p:cNvSpPr txBox="1"/>
          <p:nvPr/>
        </p:nvSpPr>
        <p:spPr>
          <a:xfrm>
            <a:off x="548640" y="3657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>
            <p:ph type="title"/>
          </p:nvPr>
        </p:nvSpPr>
        <p:spPr>
          <a:xfrm>
            <a:off x="2377440" y="594360"/>
            <a:ext cx="1353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io"/>
              <a:buNone/>
            </a:pPr>
            <a:r>
              <a:rPr lang="en-US" sz="6000">
                <a:solidFill>
                  <a:schemeClr val="lt1"/>
                </a:solidFill>
              </a:rPr>
              <a:t>SECUENCIA Y CASOS DE USO</a:t>
            </a:r>
            <a:endParaRPr sz="6000"/>
          </a:p>
        </p:txBody>
      </p:sp>
      <p:pic>
        <p:nvPicPr>
          <p:cNvPr id="249" name="Google Shape;249;p11" title="Diagrama sin título-Crear publicació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2524351"/>
            <a:ext cx="8321051" cy="6015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1" title="caso de uso epica 1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2871" y="2971848"/>
            <a:ext cx="2852884" cy="25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1" title="caso de uso epica 2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01228" y="2971848"/>
            <a:ext cx="3126431" cy="256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1" title="caso de uso epica 3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92879" y="5799588"/>
            <a:ext cx="2903363" cy="25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 title="caso de uso epica 4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301225" y="5931984"/>
            <a:ext cx="4556662" cy="2298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 txBox="1"/>
          <p:nvPr/>
        </p:nvSpPr>
        <p:spPr>
          <a:xfrm>
            <a:off x="548640" y="3657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2377440" y="594360"/>
            <a:ext cx="1353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io"/>
              <a:buNone/>
            </a:pPr>
            <a:r>
              <a:rPr lang="en-US" sz="6000">
                <a:solidFill>
                  <a:schemeClr val="lt1"/>
                </a:solidFill>
              </a:rPr>
              <a:t>CÓMO SE ELABORÓ EL SPRINT</a:t>
            </a:r>
            <a:endParaRPr sz="6000"/>
          </a:p>
        </p:txBody>
      </p:sp>
      <p:cxnSp>
        <p:nvCxnSpPr>
          <p:cNvPr id="261" name="Google Shape;261;p12"/>
          <p:cNvCxnSpPr/>
          <p:nvPr/>
        </p:nvCxnSpPr>
        <p:spPr>
          <a:xfrm>
            <a:off x="914400" y="4846320"/>
            <a:ext cx="16459200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2"/>
          <p:cNvSpPr txBox="1"/>
          <p:nvPr/>
        </p:nvSpPr>
        <p:spPr>
          <a:xfrm>
            <a:off x="914400" y="3383280"/>
            <a:ext cx="301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AGOSTO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914400" y="4617720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 txBox="1"/>
          <p:nvPr/>
        </p:nvSpPr>
        <p:spPr>
          <a:xfrm>
            <a:off x="914400" y="55778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Pensamos el producto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914400" y="6583680"/>
            <a:ext cx="30175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Definimos la visión, las 15 historias de usuario, el mockup, los riesgos y los KPIs.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 txBox="1"/>
          <p:nvPr/>
        </p:nvSpPr>
        <p:spPr>
          <a:xfrm>
            <a:off x="4224528" y="3383280"/>
            <a:ext cx="301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 SEP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4224528" y="4617720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 txBox="1"/>
          <p:nvPr/>
        </p:nvSpPr>
        <p:spPr>
          <a:xfrm>
            <a:off x="4224528" y="55778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Empezamos a construir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4224528" y="6583680"/>
            <a:ext cx="30175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Planificamos el Sprint 2: las primeras líneas de código de un MVP.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 txBox="1"/>
          <p:nvPr/>
        </p:nvSpPr>
        <p:spPr>
          <a:xfrm>
            <a:off x="7534656" y="3383280"/>
            <a:ext cx="301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29 SEP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534656" y="4617720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 txBox="1"/>
          <p:nvPr/>
        </p:nvSpPr>
        <p:spPr>
          <a:xfrm>
            <a:off x="7534656" y="55778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Primer cambio de rumbo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7534656" y="6583680"/>
            <a:ext cx="30175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En vez de un servidor propio (Node.js + Express), usamos Supabase.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10844784" y="3383280"/>
            <a:ext cx="301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OCTUBRE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10844784" y="4617720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 txBox="1"/>
          <p:nvPr/>
        </p:nvSpPr>
        <p:spPr>
          <a:xfrm>
            <a:off x="10844784" y="55778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Segundo cambio de rumbo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10844784" y="6583680"/>
            <a:ext cx="30175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El ejecutor se postula y el solicitante elige; la coordinación pasa del chat interno a WhatsApp.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14154912" y="3383280"/>
            <a:ext cx="301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HOY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14154912" y="461772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14154912" y="55778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MVP en marcha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14154912" y="6583680"/>
            <a:ext cx="30175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14 de 15 historias en Hecho; queda en progreso la gestión de métodos de pago.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 txBox="1"/>
          <p:nvPr/>
        </p:nvSpPr>
        <p:spPr>
          <a:xfrm>
            <a:off x="548640" y="3657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2377440" y="594360"/>
            <a:ext cx="135331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ntonio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rPr>
              <a:t>CONCLUSIÓN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8412480" y="2468880"/>
            <a:ext cx="1463040" cy="5486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 txBox="1"/>
          <p:nvPr/>
        </p:nvSpPr>
        <p:spPr>
          <a:xfrm>
            <a:off x="3291840" y="3108960"/>
            <a:ext cx="1170432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el Sprint 2 el equipo construyó el MVP de Mini-Trabajo: 14 de 15 historias del backlog están en Hecho. La aplicación responde a la necesidad de coordinar tareas ocasionales urbanas en Chile mediante la búsqueda por cercanía, la postulación y aceptación entre las partes, la coordinación por WhatsApp y la validación por perfiles y calificaciones. Trabajar en ciclos cortos permitió adaptarnos a los cambios de arquitectura y de flujo.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"/>
          <p:cNvSpPr txBox="1"/>
          <p:nvPr/>
        </p:nvSpPr>
        <p:spPr>
          <a:xfrm>
            <a:off x="1828800" y="2926080"/>
            <a:ext cx="14630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Gracias por su atención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Trabajo Duoc">
  <a:themeElements>
    <a:clrScheme name="MiniTrabajo Duoc">
      <a:dk1>
        <a:srgbClr val="1A1A1A"/>
      </a:dk1>
      <a:lt1>
        <a:srgbClr val="FFFFFF"/>
      </a:lt1>
      <a:dk2>
        <a:srgbClr val="333333"/>
      </a:dk2>
      <a:lt2>
        <a:srgbClr val="F2F2F2"/>
      </a:lt2>
      <a:accent1>
        <a:srgbClr val="E30613"/>
      </a:accent1>
      <a:accent2>
        <a:srgbClr val="520B07"/>
      </a:accent2>
      <a:accent3>
        <a:srgbClr val="9A1E14"/>
      </a:accent3>
      <a:accent4>
        <a:srgbClr val="F2A900"/>
      </a:accent4>
      <a:accent5>
        <a:srgbClr val="9A9A9A"/>
      </a:accent5>
      <a:accent6>
        <a:srgbClr val="0D0D0D"/>
      </a:accent6>
      <a:hlink>
        <a:srgbClr val="E30613"/>
      </a:hlink>
      <a:folHlink>
        <a:srgbClr val="9A9A9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2026-10-15T19:19:22Z</dcterms:created>
  <dc:creator>Equipo Mini-Trabajo</dc:creator>
</cp:coreProperties>
</file>