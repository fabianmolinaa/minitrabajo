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y="10287000" cx="18288000"/>
  <p:notesSz cx="10287000" cy="18288000"/>
  <p:embeddedFontLst>
    <p:embeddedFont>
      <p:font typeface="Amatic SC"/>
      <p:regular r:id="rId19"/>
      <p:bold r:id="rId20"/>
    </p:embeddedFont>
    <p:embeddedFont>
      <p:font typeface="Source Code Pro"/>
      <p:regular r:id="rId21"/>
      <p:bold r:id="rId22"/>
      <p:italic r:id="rId23"/>
      <p:boldItalic r:id="rId24"/>
    </p:embeddedFont>
    <p:embeddedFont>
      <p:font typeface="Antonio"/>
      <p:regular r:id="rId25"/>
      <p:bold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7" roundtripDataSignature="AMtx7mie9kywSHpuwFXIwS6PSSgo4agOo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AmaticSC-bold.fntdata"/><Relationship Id="rId22" Type="http://schemas.openxmlformats.org/officeDocument/2006/relationships/font" Target="fonts/SourceCodePro-bold.fntdata"/><Relationship Id="rId21" Type="http://schemas.openxmlformats.org/officeDocument/2006/relationships/font" Target="fonts/SourceCodePro-regular.fntdata"/><Relationship Id="rId24" Type="http://schemas.openxmlformats.org/officeDocument/2006/relationships/font" Target="fonts/SourceCodePro-boldItalic.fntdata"/><Relationship Id="rId23" Type="http://schemas.openxmlformats.org/officeDocument/2006/relationships/font" Target="fonts/SourceCodePro-italic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font" Target="fonts/Antonio-bold.fntdata"/><Relationship Id="rId25" Type="http://schemas.openxmlformats.org/officeDocument/2006/relationships/font" Target="fonts/Antonio-regular.fntdata"/><Relationship Id="rId27" Type="http://customschemas.google.com/relationships/presentationmetadata" Target="meta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font" Target="fonts/AmaticSC-regular.fntdata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" name="Google Shape;7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Expone: [asignar integrante]</a:t>
            </a:r>
            <a:br>
              <a:rPr lang="en-US"/>
            </a:br>
            <a:r>
              <a:rPr lang="en-US"/>
              <a:t>Presentar al equipo, al docente y el alcance: resumen de la Fase 2 (Sprint 2). El detalle completo está en el informe final.</a:t>
            </a:r>
            <a:endParaRPr/>
          </a:p>
        </p:txBody>
      </p:sp>
      <p:sp>
        <p:nvSpPr>
          <p:cNvPr id="80" name="Google Shape;80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Expone: [asignar integrante]</a:t>
            </a:r>
            <a:br>
              <a:rPr lang="en-US"/>
            </a:br>
            <a:r>
              <a:rPr lang="en-US"/>
              <a:t>Recorrido de la presentación: de la necesidad al producto y de ahí a cómo se construyó el MVP en el Sprint 2.</a:t>
            </a:r>
            <a:endParaRPr/>
          </a:p>
        </p:txBody>
      </p:sp>
      <p:sp>
        <p:nvSpPr>
          <p:cNvPr id="90" name="Google Shape;90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9" name="Google Shape;119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Expone: [asignar integrante]</a:t>
            </a:r>
            <a:br>
              <a:rPr lang="en-US"/>
            </a:br>
            <a:r>
              <a:rPr lang="en-US"/>
              <a:t>Introducir el proyecto y el objetivo de la presentación: contar lo hecho en el Sprint 2 hasta lograr el MVP.</a:t>
            </a:r>
            <a:endParaRPr/>
          </a:p>
        </p:txBody>
      </p:sp>
      <p:sp>
        <p:nvSpPr>
          <p:cNvPr id="120" name="Google Shape;120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Expone: [asignar integrante]</a:t>
            </a:r>
            <a:br>
              <a:rPr lang="en-US"/>
            </a:br>
            <a:r>
              <a:rPr lang="en-US"/>
              <a:t>Contexto: coordinación dispersa e informal. Problema: no hay canal centralizado con búsqueda por ubicación, verificación de confiabilidad ni seguimiento del estado de la tarea.</a:t>
            </a:r>
            <a:endParaRPr/>
          </a:p>
        </p:txBody>
      </p:sp>
      <p:sp>
        <p:nvSpPr>
          <p:cNvPr id="129" name="Google Shape;129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7" name="Google Shape;137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Expone: [asignar integrante]</a:t>
            </a:r>
            <a:br>
              <a:rPr lang="en-US"/>
            </a:br>
            <a:r>
              <a:rPr lang="en-US"/>
              <a:t>Flujo: el solicitante publica, el ejecutor se postula, el solicitante acepta una postulación y la tarea pasa a «en curso»; coordinan por WhatsApp y al terminar se califican. Las pantallas mostradas son del mockup de diseño, no de la app final.</a:t>
            </a:r>
            <a:endParaRPr/>
          </a:p>
        </p:txBody>
      </p:sp>
      <p:sp>
        <p:nvSpPr>
          <p:cNvPr id="138" name="Google Shape;138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0" name="Google Shape;15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Expone: [asignar integrante]</a:t>
            </a:r>
            <a:br>
              <a:rPr lang="en-US"/>
            </a:br>
            <a:r>
              <a:rPr lang="en-US"/>
              <a:t>Objetivo del Sprint 2 según el acta del 14-09. Scrum + Kanban: ciclos cortos, tablero en Trello (Product Backlog, En progreso, Hecho), cada historia es una tarjeta con etiqueta de épica. Artefactos: Product Vision, Product Backlog, Sprint Backlog, Definition of Done, Plan de Pruebas y retrospectiva.</a:t>
            </a:r>
            <a:endParaRPr/>
          </a:p>
        </p:txBody>
      </p:sp>
      <p:sp>
        <p:nvSpPr>
          <p:cNvPr id="151" name="Google Shape;151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" name="Google Shape;16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Expone: [asignar integrante]</a:t>
            </a:r>
            <a:br>
              <a:rPr lang="en-US"/>
            </a:br>
            <a:r>
              <a:rPr lang="en-US"/>
              <a:t>Desglose por épica: Épica 1: 4/4; Épica 2: 4/4; Épica 3: 5/5; Épica 4: 1/2. Queda en progreso la gestión de métodos de pago. Ser transparentes: el PIN y la compra de créditos están simulados.</a:t>
            </a:r>
            <a:endParaRPr/>
          </a:p>
        </p:txBody>
      </p:sp>
      <p:sp>
        <p:nvSpPr>
          <p:cNvPr id="161" name="Google Shape;16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5" name="Google Shape;18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Expone: [asignar integrante]</a:t>
            </a:r>
            <a:br>
              <a:rPr lang="en-US"/>
            </a:br>
            <a:r>
              <a:rPr lang="en-US"/>
              <a:t>Aplicación en React Native con Expo (Expo Go) y TypeScript. Backend como servicio con Supabase: Auth (sesiones JWT), API REST autogenerada (PostgREST), PostgreSQL y Storage. GitHub para el repositorio, Trello para Scrum + Kanban y Figma para el mockup.</a:t>
            </a:r>
            <a:endParaRPr/>
          </a:p>
        </p:txBody>
      </p:sp>
      <p:sp>
        <p:nvSpPr>
          <p:cNvPr id="186" name="Google Shape;186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4" name="Google Shape;22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Expone: [asignar integrante]</a:t>
            </a:r>
            <a:br>
              <a:rPr lang="en-US"/>
            </a:br>
            <a:r>
              <a:rPr lang="en-US"/>
              <a:t>Arquitectura cliente-servidor (BaaS / serverless): sin servidor propio no se usa Docker; la decisión está justificada en el Documento de Diseño. Explicar la comunicación entre la app, el SDK de Supabase, la API REST y PostgreSQL.</a:t>
            </a:r>
            <a:endParaRPr/>
          </a:p>
        </p:txBody>
      </p:sp>
      <p:sp>
        <p:nvSpPr>
          <p:cNvPr id="225" name="Google Shape;225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4" name="Google Shape;23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Expone: [asignar integrante]</a:t>
            </a:r>
            <a:br>
              <a:rPr lang="en-US"/>
            </a:br>
            <a:r>
              <a:rPr lang="en-US"/>
              <a:t>Modelo relacional de 7 tablas en PostgreSQL gestionado por Supabase: perfiles, trabajos, postulaciones, resenas, categorias, comunas y regiones. Mostrar el modelo ER y las relaciones principales.</a:t>
            </a:r>
            <a:endParaRPr/>
          </a:p>
        </p:txBody>
      </p:sp>
      <p:sp>
        <p:nvSpPr>
          <p:cNvPr id="235" name="Google Shape;235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4" name="Google Shape;24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Expone: [asignar integrante]</a:t>
            </a:r>
            <a:br>
              <a:rPr lang="en-US"/>
            </a:br>
            <a:r>
              <a:rPr lang="en-US"/>
              <a:t>Explicar con palabras simples el flujo del diagrama de secuencia (quién llama a quién) y qué acciones cubre cada caso de uso.</a:t>
            </a:r>
            <a:endParaRPr/>
          </a:p>
        </p:txBody>
      </p:sp>
      <p:sp>
        <p:nvSpPr>
          <p:cNvPr id="245" name="Google Shape;245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6" name="Google Shape;256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Expone: [asignar integrante]</a:t>
            </a:r>
            <a:br>
              <a:rPr lang="en-US"/>
            </a:br>
            <a:r>
              <a:rPr lang="en-US"/>
              <a:t>Contar el recorrido como historia. Sprint 1: diseño y planificación sin código. 14-09: planificación del Sprint 2. 29-09: la arquitectura cambió de Node.js + Express (MVC) a Supabase (BaaS). Octubre: aceptación directa pasó a postulación y la coordinación a WhatsApp; se actualizaron backlog, plan de pruebas y tarjetas. Reuniones con acta: 26-08, 14-09 y 29-09.</a:t>
            </a:r>
            <a:endParaRPr/>
          </a:p>
        </p:txBody>
      </p:sp>
      <p:sp>
        <p:nvSpPr>
          <p:cNvPr id="257" name="Google Shape;257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4" name="Google Shape;284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Expone: [asignar integrante]</a:t>
            </a:r>
            <a:br>
              <a:rPr lang="en-US"/>
            </a:br>
            <a:r>
              <a:rPr lang="en-US"/>
              <a:t>Cerrar con el balance de la fase y abrir preguntas. Todos los integrantes deben poder responder sobre cualquier parte del proyecto.</a:t>
            </a:r>
            <a:endParaRPr/>
          </a:p>
        </p:txBody>
      </p:sp>
      <p:sp>
        <p:nvSpPr>
          <p:cNvPr id="285" name="Google Shape;285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3" name="Google Shape;293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Expone: [asignar integrante]</a:t>
            </a:r>
            <a:br>
              <a:rPr lang="en-US"/>
            </a:br>
            <a:r>
              <a:rPr lang="en-US"/>
              <a:t>Abrir preguntas.</a:t>
            </a:r>
            <a:endParaRPr/>
          </a:p>
        </p:txBody>
      </p:sp>
      <p:sp>
        <p:nvSpPr>
          <p:cNvPr id="294" name="Google Shape;294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1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h62658053f7842d1d_3_220"/>
          <p:cNvSpPr/>
          <p:nvPr/>
        </p:nvSpPr>
        <p:spPr>
          <a:xfrm>
            <a:off x="0" y="0"/>
            <a:ext cx="18288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" name="Google Shape;15;h62658053f7842d1d_3_220"/>
          <p:cNvSpPr txBox="1"/>
          <p:nvPr>
            <p:ph type="ctrTitle"/>
          </p:nvPr>
        </p:nvSpPr>
        <p:spPr>
          <a:xfrm>
            <a:off x="623400" y="784300"/>
            <a:ext cx="17041200" cy="5380800"/>
          </a:xfrm>
          <a:prstGeom prst="rect">
            <a:avLst/>
          </a:prstGeom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/>
        </p:txBody>
      </p:sp>
      <p:sp>
        <p:nvSpPr>
          <p:cNvPr id="16" name="Google Shape;16;h62658053f7842d1d_3_220"/>
          <p:cNvSpPr txBox="1"/>
          <p:nvPr>
            <p:ph idx="1" type="subTitle"/>
          </p:nvPr>
        </p:nvSpPr>
        <p:spPr>
          <a:xfrm>
            <a:off x="623400" y="7780800"/>
            <a:ext cx="17041200" cy="1412400"/>
          </a:xfrm>
          <a:prstGeom prst="rect">
            <a:avLst/>
          </a:prstGeom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b="1" sz="42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b="1" sz="4200">
                <a:solidFill>
                  <a:schemeClr val="accen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b="1" sz="4200">
                <a:solidFill>
                  <a:schemeClr val="accen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b="1" sz="4200">
                <a:solidFill>
                  <a:schemeClr val="accen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b="1" sz="4200">
                <a:solidFill>
                  <a:schemeClr val="accen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b="1" sz="4200">
                <a:solidFill>
                  <a:schemeClr val="accen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b="1" sz="4200">
                <a:solidFill>
                  <a:schemeClr val="accen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b="1" sz="4200">
                <a:solidFill>
                  <a:schemeClr val="accen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b="1" sz="42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7" name="Google Shape;17;h62658053f7842d1d_3_220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h62658053f7842d1d_3_225"/>
          <p:cNvSpPr txBox="1"/>
          <p:nvPr>
            <p:ph type="title"/>
          </p:nvPr>
        </p:nvSpPr>
        <p:spPr>
          <a:xfrm>
            <a:off x="5605500" y="1605000"/>
            <a:ext cx="7077000" cy="7077000"/>
          </a:xfrm>
          <a:prstGeom prst="rect">
            <a:avLst/>
          </a:prstGeom>
          <a:solidFill>
            <a:srgbClr val="FFFFFF"/>
          </a:solidFill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/>
        </p:txBody>
      </p:sp>
      <p:sp>
        <p:nvSpPr>
          <p:cNvPr id="20" name="Google Shape;20;h62658053f7842d1d_3_225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h62658053f7842d1d_3_228"/>
          <p:cNvSpPr txBox="1"/>
          <p:nvPr>
            <p:ph type="title"/>
          </p:nvPr>
        </p:nvSpPr>
        <p:spPr>
          <a:xfrm>
            <a:off x="623400" y="585700"/>
            <a:ext cx="17041200" cy="1602000"/>
          </a:xfrm>
          <a:prstGeom prst="rect">
            <a:avLst/>
          </a:prstGeom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8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8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8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8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8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8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8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8400"/>
              <a:buNone/>
              <a:defRPr/>
            </a:lvl9pPr>
          </a:lstStyle>
          <a:p/>
        </p:txBody>
      </p:sp>
      <p:sp>
        <p:nvSpPr>
          <p:cNvPr id="23" name="Google Shape;23;h62658053f7842d1d_3_228"/>
          <p:cNvSpPr txBox="1"/>
          <p:nvPr>
            <p:ph idx="1" type="body"/>
          </p:nvPr>
        </p:nvSpPr>
        <p:spPr>
          <a:xfrm>
            <a:off x="623400" y="2457350"/>
            <a:ext cx="17041200" cy="6680400"/>
          </a:xfrm>
          <a:prstGeom prst="rect">
            <a:avLst/>
          </a:prstGeom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57200" lvl="0" marL="457200"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indent="-406400" lvl="1" marL="914400"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2pPr>
            <a:lvl3pPr indent="-406400" lvl="2" marL="1371600"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3pPr>
            <a:lvl4pPr indent="-406400" lvl="3" marL="1828800"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4pPr>
            <a:lvl5pPr indent="-406400" lvl="4" marL="2286000"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5pPr>
            <a:lvl6pPr indent="-406400" lvl="5" marL="2743200"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6pPr>
            <a:lvl7pPr indent="-406400" lvl="6" marL="3200400"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7pPr>
            <a:lvl8pPr indent="-406400" lvl="7" marL="3657600"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8pPr>
            <a:lvl9pPr indent="-406400" lvl="8" marL="4114800"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9pPr>
          </a:lstStyle>
          <a:p/>
        </p:txBody>
      </p:sp>
      <p:sp>
        <p:nvSpPr>
          <p:cNvPr id="24" name="Google Shape;24;h62658053f7842d1d_3_228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h62658053f7842d1d_3_232"/>
          <p:cNvSpPr txBox="1"/>
          <p:nvPr>
            <p:ph type="title"/>
          </p:nvPr>
        </p:nvSpPr>
        <p:spPr>
          <a:xfrm>
            <a:off x="623400" y="585700"/>
            <a:ext cx="17041200" cy="1602000"/>
          </a:xfrm>
          <a:prstGeom prst="rect">
            <a:avLst/>
          </a:prstGeom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8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8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8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8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8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8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8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8400"/>
              <a:buNone/>
              <a:defRPr/>
            </a:lvl9pPr>
          </a:lstStyle>
          <a:p/>
        </p:txBody>
      </p:sp>
      <p:sp>
        <p:nvSpPr>
          <p:cNvPr id="27" name="Google Shape;27;h62658053f7842d1d_3_232"/>
          <p:cNvSpPr txBox="1"/>
          <p:nvPr>
            <p:ph idx="1" type="body"/>
          </p:nvPr>
        </p:nvSpPr>
        <p:spPr>
          <a:xfrm>
            <a:off x="623400" y="2457350"/>
            <a:ext cx="7999800" cy="6680400"/>
          </a:xfrm>
          <a:prstGeom prst="rect">
            <a:avLst/>
          </a:prstGeom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06400" lvl="0" marL="457200">
              <a:spcBef>
                <a:spcPts val="0"/>
              </a:spcBef>
              <a:spcAft>
                <a:spcPts val="0"/>
              </a:spcAft>
              <a:buSzPts val="2800"/>
              <a:buChar char="●"/>
              <a:defRPr sz="2800"/>
            </a:lvl1pPr>
            <a:lvl2pPr indent="-381000" lvl="1" marL="914400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indent="-381000" lvl="2" marL="1371600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indent="-381000" lvl="3" marL="1828800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indent="-381000" lvl="4" marL="2286000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indent="-381000" lvl="5" marL="2743200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indent="-381000" lvl="6" marL="3200400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indent="-381000" lvl="7" marL="3657600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indent="-381000" lvl="8" marL="4114800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28" name="Google Shape;28;h62658053f7842d1d_3_232"/>
          <p:cNvSpPr txBox="1"/>
          <p:nvPr>
            <p:ph idx="2" type="body"/>
          </p:nvPr>
        </p:nvSpPr>
        <p:spPr>
          <a:xfrm>
            <a:off x="9664800" y="2457350"/>
            <a:ext cx="7999800" cy="6680400"/>
          </a:xfrm>
          <a:prstGeom prst="rect">
            <a:avLst/>
          </a:prstGeom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06400" lvl="0" marL="457200">
              <a:spcBef>
                <a:spcPts val="0"/>
              </a:spcBef>
              <a:spcAft>
                <a:spcPts val="0"/>
              </a:spcAft>
              <a:buSzPts val="2800"/>
              <a:buChar char="●"/>
              <a:defRPr sz="2800"/>
            </a:lvl1pPr>
            <a:lvl2pPr indent="-381000" lvl="1" marL="914400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indent="-381000" lvl="2" marL="1371600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indent="-381000" lvl="3" marL="1828800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indent="-381000" lvl="4" marL="2286000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indent="-381000" lvl="5" marL="2743200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indent="-381000" lvl="6" marL="3200400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indent="-381000" lvl="7" marL="3657600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indent="-381000" lvl="8" marL="4114800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29" name="Google Shape;29;h62658053f7842d1d_3_232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h62658053f7842d1d_3_237"/>
          <p:cNvSpPr txBox="1"/>
          <p:nvPr>
            <p:ph type="title"/>
          </p:nvPr>
        </p:nvSpPr>
        <p:spPr>
          <a:xfrm>
            <a:off x="609600" y="618700"/>
            <a:ext cx="17075400" cy="1496400"/>
          </a:xfrm>
          <a:prstGeom prst="rect">
            <a:avLst/>
          </a:prstGeom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/>
        </p:txBody>
      </p:sp>
      <p:sp>
        <p:nvSpPr>
          <p:cNvPr id="32" name="Google Shape;32;h62658053f7842d1d_3_237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h62658053f7842d1d_3_240"/>
          <p:cNvSpPr txBox="1"/>
          <p:nvPr>
            <p:ph type="title"/>
          </p:nvPr>
        </p:nvSpPr>
        <p:spPr>
          <a:xfrm>
            <a:off x="623400" y="1111200"/>
            <a:ext cx="5616000" cy="1511400"/>
          </a:xfrm>
          <a:prstGeom prst="rect">
            <a:avLst/>
          </a:prstGeom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highlight>
                  <a:schemeClr val="dk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highlight>
                  <a:schemeClr val="dk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highlight>
                  <a:schemeClr val="dk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highlight>
                  <a:schemeClr val="dk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highlight>
                  <a:schemeClr val="dk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highlight>
                  <a:schemeClr val="dk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highlight>
                  <a:schemeClr val="dk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highlight>
                  <a:schemeClr val="dk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highlight>
                  <a:schemeClr val="dk1"/>
                </a:highlight>
              </a:defRPr>
            </a:lvl9pPr>
          </a:lstStyle>
          <a:p/>
        </p:txBody>
      </p:sp>
      <p:sp>
        <p:nvSpPr>
          <p:cNvPr id="35" name="Google Shape;35;h62658053f7842d1d_3_240"/>
          <p:cNvSpPr txBox="1"/>
          <p:nvPr>
            <p:ph idx="1" type="body"/>
          </p:nvPr>
        </p:nvSpPr>
        <p:spPr>
          <a:xfrm>
            <a:off x="623400" y="2779200"/>
            <a:ext cx="5616000" cy="6358800"/>
          </a:xfrm>
          <a:prstGeom prst="rect">
            <a:avLst/>
          </a:prstGeom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1pPr>
            <a:lvl2pPr indent="-381000" lvl="1" marL="914400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indent="-381000" lvl="2" marL="1371600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indent="-381000" lvl="3" marL="1828800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indent="-381000" lvl="4" marL="2286000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indent="-381000" lvl="5" marL="2743200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indent="-381000" lvl="6" marL="3200400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indent="-381000" lvl="7" marL="3657600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indent="-381000" lvl="8" marL="4114800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36" name="Google Shape;36;h62658053f7842d1d_3_240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4"/>
        </a:solidFill>
      </p:bgPr>
    </p:bg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h62658053f7842d1d_3_244"/>
          <p:cNvSpPr txBox="1"/>
          <p:nvPr>
            <p:ph type="title"/>
          </p:nvPr>
        </p:nvSpPr>
        <p:spPr>
          <a:xfrm>
            <a:off x="980500" y="1052700"/>
            <a:ext cx="11237400" cy="8181600"/>
          </a:xfrm>
          <a:prstGeom prst="rect">
            <a:avLst/>
          </a:prstGeom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" name="Google Shape;39;h62658053f7842d1d_3_244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h62658053f7842d1d_3_247"/>
          <p:cNvSpPr/>
          <p:nvPr/>
        </p:nvSpPr>
        <p:spPr>
          <a:xfrm>
            <a:off x="9144000" y="-50"/>
            <a:ext cx="9144000" cy="10287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2" name="Google Shape;42;h62658053f7842d1d_3_247"/>
          <p:cNvCxnSpPr/>
          <p:nvPr/>
        </p:nvCxnSpPr>
        <p:spPr>
          <a:xfrm>
            <a:off x="10059350" y="8991000"/>
            <a:ext cx="936600" cy="0"/>
          </a:xfrm>
          <a:prstGeom prst="straightConnector1">
            <a:avLst/>
          </a:prstGeom>
          <a:noFill/>
          <a:ln cap="flat" cmpd="sng" w="571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3" name="Google Shape;43;h62658053f7842d1d_3_247"/>
          <p:cNvSpPr txBox="1"/>
          <p:nvPr>
            <p:ph type="title"/>
          </p:nvPr>
        </p:nvSpPr>
        <p:spPr>
          <a:xfrm>
            <a:off x="531000" y="2162800"/>
            <a:ext cx="8090400" cy="3420600"/>
          </a:xfrm>
          <a:prstGeom prst="rect">
            <a:avLst/>
          </a:prstGeom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800"/>
              <a:buNone/>
              <a:defRPr sz="10800"/>
            </a:lvl1pPr>
            <a:lvl2pPr lvl="1" algn="ctr">
              <a:spcBef>
                <a:spcPts val="0"/>
              </a:spcBef>
              <a:spcAft>
                <a:spcPts val="0"/>
              </a:spcAft>
              <a:buSzPts val="10800"/>
              <a:buNone/>
              <a:defRPr sz="10800"/>
            </a:lvl2pPr>
            <a:lvl3pPr lvl="2" algn="ctr">
              <a:spcBef>
                <a:spcPts val="0"/>
              </a:spcBef>
              <a:spcAft>
                <a:spcPts val="0"/>
              </a:spcAft>
              <a:buSzPts val="10800"/>
              <a:buNone/>
              <a:defRPr sz="10800"/>
            </a:lvl3pPr>
            <a:lvl4pPr lvl="3" algn="ctr">
              <a:spcBef>
                <a:spcPts val="0"/>
              </a:spcBef>
              <a:spcAft>
                <a:spcPts val="0"/>
              </a:spcAft>
              <a:buSzPts val="10800"/>
              <a:buNone/>
              <a:defRPr sz="10800"/>
            </a:lvl4pPr>
            <a:lvl5pPr lvl="4" algn="ctr">
              <a:spcBef>
                <a:spcPts val="0"/>
              </a:spcBef>
              <a:spcAft>
                <a:spcPts val="0"/>
              </a:spcAft>
              <a:buSzPts val="10800"/>
              <a:buNone/>
              <a:defRPr sz="10800"/>
            </a:lvl5pPr>
            <a:lvl6pPr lvl="5" algn="ctr">
              <a:spcBef>
                <a:spcPts val="0"/>
              </a:spcBef>
              <a:spcAft>
                <a:spcPts val="0"/>
              </a:spcAft>
              <a:buSzPts val="10800"/>
              <a:buNone/>
              <a:defRPr sz="10800"/>
            </a:lvl6pPr>
            <a:lvl7pPr lvl="6" algn="ctr">
              <a:spcBef>
                <a:spcPts val="0"/>
              </a:spcBef>
              <a:spcAft>
                <a:spcPts val="0"/>
              </a:spcAft>
              <a:buSzPts val="10800"/>
              <a:buNone/>
              <a:defRPr sz="10800"/>
            </a:lvl7pPr>
            <a:lvl8pPr lvl="7" algn="ctr">
              <a:spcBef>
                <a:spcPts val="0"/>
              </a:spcBef>
              <a:spcAft>
                <a:spcPts val="0"/>
              </a:spcAft>
              <a:buSzPts val="10800"/>
              <a:buNone/>
              <a:defRPr sz="10800"/>
            </a:lvl8pPr>
            <a:lvl9pPr lvl="8" algn="ctr">
              <a:spcBef>
                <a:spcPts val="0"/>
              </a:spcBef>
              <a:spcAft>
                <a:spcPts val="0"/>
              </a:spcAft>
              <a:buSzPts val="10800"/>
              <a:buNone/>
              <a:defRPr sz="10800"/>
            </a:lvl9pPr>
          </a:lstStyle>
          <a:p/>
        </p:txBody>
      </p:sp>
      <p:sp>
        <p:nvSpPr>
          <p:cNvPr id="44" name="Google Shape;44;h62658053f7842d1d_3_247"/>
          <p:cNvSpPr txBox="1"/>
          <p:nvPr>
            <p:ph idx="1" type="subTitle"/>
          </p:nvPr>
        </p:nvSpPr>
        <p:spPr>
          <a:xfrm>
            <a:off x="531000" y="5690446"/>
            <a:ext cx="8090400" cy="2691000"/>
          </a:xfrm>
          <a:prstGeom prst="rect">
            <a:avLst/>
          </a:prstGeom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45" name="Google Shape;45;h62658053f7842d1d_3_247"/>
          <p:cNvSpPr txBox="1"/>
          <p:nvPr>
            <p:ph idx="2" type="body"/>
          </p:nvPr>
        </p:nvSpPr>
        <p:spPr>
          <a:xfrm>
            <a:off x="9879000" y="1448400"/>
            <a:ext cx="7674000" cy="7390200"/>
          </a:xfrm>
          <a:prstGeom prst="rect">
            <a:avLst/>
          </a:prstGeom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-45720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1pPr>
            <a:lvl2pPr indent="-406400" lvl="1" marL="9144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Char char="○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2pPr>
            <a:lvl3pPr indent="-406400" lvl="2" marL="1371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Char char="■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3pPr>
            <a:lvl4pPr indent="-406400" lvl="3" marL="18288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Char char="●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4pPr>
            <a:lvl5pPr indent="-406400" lvl="4" marL="22860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Char char="○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5pPr>
            <a:lvl6pPr indent="-406400" lvl="5" marL="2743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Char char="■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6pPr>
            <a:lvl7pPr indent="-406400" lvl="6" marL="32004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Char char="●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7pPr>
            <a:lvl8pPr indent="-406400" lvl="7" marL="3657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Char char="○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8pPr>
            <a:lvl9pPr indent="-406400" lvl="8" marL="41148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Char char="■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9pPr>
          </a:lstStyle>
          <a:p/>
        </p:txBody>
      </p:sp>
      <p:sp>
        <p:nvSpPr>
          <p:cNvPr id="46" name="Google Shape;46;h62658053f7842d1d_3_247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h62658053f7842d1d_3_254"/>
          <p:cNvSpPr txBox="1"/>
          <p:nvPr>
            <p:ph idx="1" type="body"/>
          </p:nvPr>
        </p:nvSpPr>
        <p:spPr>
          <a:xfrm>
            <a:off x="639000" y="8461150"/>
            <a:ext cx="11997600" cy="1197600"/>
          </a:xfrm>
          <a:prstGeom prst="rect">
            <a:avLst/>
          </a:prstGeom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matic SC"/>
              <a:buNone/>
              <a:defRPr b="1" sz="48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</a:lstStyle>
          <a:p/>
        </p:txBody>
      </p:sp>
      <p:sp>
        <p:nvSpPr>
          <p:cNvPr id="49" name="Google Shape;49;h62658053f7842d1d_3_254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h62658053f7842d1d_3_257"/>
          <p:cNvSpPr txBox="1"/>
          <p:nvPr>
            <p:ph hasCustomPrompt="1" type="title"/>
          </p:nvPr>
        </p:nvSpPr>
        <p:spPr>
          <a:xfrm>
            <a:off x="623400" y="2480550"/>
            <a:ext cx="17041200" cy="3963600"/>
          </a:xfrm>
          <a:prstGeom prst="rect">
            <a:avLst/>
          </a:prstGeom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0"/>
              <a:buNone/>
              <a:defRPr sz="24000">
                <a:solidFill>
                  <a:schemeClr val="lt1"/>
                </a:solidFill>
                <a:highlight>
                  <a:schemeClr val="accent1"/>
                </a:highlight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0"/>
              <a:buNone/>
              <a:defRPr sz="24000">
                <a:solidFill>
                  <a:schemeClr val="lt1"/>
                </a:solidFill>
                <a:highlight>
                  <a:schemeClr val="accent1"/>
                </a:highlight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0"/>
              <a:buNone/>
              <a:defRPr sz="24000">
                <a:solidFill>
                  <a:schemeClr val="lt1"/>
                </a:solidFill>
                <a:highlight>
                  <a:schemeClr val="accent1"/>
                </a:highlight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0"/>
              <a:buNone/>
              <a:defRPr sz="24000">
                <a:solidFill>
                  <a:schemeClr val="lt1"/>
                </a:solidFill>
                <a:highlight>
                  <a:schemeClr val="accent1"/>
                </a:highlight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0"/>
              <a:buNone/>
              <a:defRPr sz="24000">
                <a:solidFill>
                  <a:schemeClr val="lt1"/>
                </a:solidFill>
                <a:highlight>
                  <a:schemeClr val="accent1"/>
                </a:highlight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0"/>
              <a:buNone/>
              <a:defRPr sz="24000">
                <a:solidFill>
                  <a:schemeClr val="lt1"/>
                </a:solidFill>
                <a:highlight>
                  <a:schemeClr val="accent1"/>
                </a:highlight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0"/>
              <a:buNone/>
              <a:defRPr sz="24000">
                <a:solidFill>
                  <a:schemeClr val="lt1"/>
                </a:solidFill>
                <a:highlight>
                  <a:schemeClr val="accent1"/>
                </a:highlight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0"/>
              <a:buNone/>
              <a:defRPr sz="24000">
                <a:solidFill>
                  <a:schemeClr val="lt1"/>
                </a:solidFill>
                <a:highlight>
                  <a:schemeClr val="accent1"/>
                </a:highlight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0"/>
              <a:buNone/>
              <a:defRPr sz="24000">
                <a:solidFill>
                  <a:schemeClr val="lt1"/>
                </a:solidFill>
                <a:highlight>
                  <a:schemeClr val="accent1"/>
                </a:highlight>
              </a:defRPr>
            </a:lvl9pPr>
          </a:lstStyle>
          <a:p>
            <a:r>
              <a:t>xx%</a:t>
            </a:r>
          </a:p>
        </p:txBody>
      </p:sp>
      <p:sp>
        <p:nvSpPr>
          <p:cNvPr id="52" name="Google Shape;52;h62658053f7842d1d_3_257"/>
          <p:cNvSpPr txBox="1"/>
          <p:nvPr>
            <p:ph idx="1" type="body"/>
          </p:nvPr>
        </p:nvSpPr>
        <p:spPr>
          <a:xfrm>
            <a:off x="623400" y="6609250"/>
            <a:ext cx="17041200" cy="2601600"/>
          </a:xfrm>
          <a:prstGeom prst="rect">
            <a:avLst/>
          </a:prstGeom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57200" lvl="0" marL="4572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1pPr>
            <a:lvl2pPr indent="-406400" lvl="1" marL="9144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Char char="○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2pPr>
            <a:lvl3pPr indent="-406400" lvl="2" marL="13716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Char char="■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3pPr>
            <a:lvl4pPr indent="-406400" lvl="3" marL="18288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Char char="●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4pPr>
            <a:lvl5pPr indent="-406400" lvl="4" marL="22860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Char char="○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5pPr>
            <a:lvl6pPr indent="-406400" lvl="5" marL="27432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Char char="■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6pPr>
            <a:lvl7pPr indent="-406400" lvl="6" marL="32004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Char char="●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7pPr>
            <a:lvl8pPr indent="-406400" lvl="7" marL="36576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Char char="○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8pPr>
            <a:lvl9pPr indent="-406400" lvl="8" marL="41148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Char char="■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9pPr>
          </a:lstStyle>
          <a:p/>
        </p:txBody>
      </p:sp>
      <p:sp>
        <p:nvSpPr>
          <p:cNvPr id="53" name="Google Shape;53;h62658053f7842d1d_3_257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h62658053f7842d1d_3_261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ORTADA">
  <p:cSld name="PORTADA">
    <p:bg>
      <p:bgPr>
        <a:solidFill>
          <a:srgbClr val="FFFFFF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h62658053f7842d1d_3_263"/>
          <p:cNvSpPr/>
          <p:nvPr/>
        </p:nvSpPr>
        <p:spPr>
          <a:xfrm>
            <a:off x="-914400" y="-914400"/>
            <a:ext cx="1737300" cy="3291900"/>
          </a:xfrm>
          <a:prstGeom prst="rect">
            <a:avLst/>
          </a:prstGeom>
          <a:solidFill>
            <a:srgbClr val="9A1E1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h62658053f7842d1d_3_263"/>
          <p:cNvSpPr/>
          <p:nvPr/>
        </p:nvSpPr>
        <p:spPr>
          <a:xfrm>
            <a:off x="0" y="8869680"/>
            <a:ext cx="11247000" cy="1417200"/>
          </a:xfrm>
          <a:prstGeom prst="rect">
            <a:avLst/>
          </a:prstGeom>
          <a:solidFill>
            <a:srgbClr val="9A1E1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h62658053f7842d1d_3_263"/>
          <p:cNvSpPr/>
          <p:nvPr/>
        </p:nvSpPr>
        <p:spPr>
          <a:xfrm>
            <a:off x="7406640" y="9509760"/>
            <a:ext cx="10972800" cy="777300"/>
          </a:xfrm>
          <a:prstGeom prst="rect">
            <a:avLst/>
          </a:prstGeom>
          <a:solidFill>
            <a:srgbClr val="520B0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p2/assets/image11.png" id="60" name="Google Shape;60;h62658053f7842d1d_3_2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6002000" y="-868680"/>
            <a:ext cx="2286000" cy="228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IBRE">
  <p:cSld name="LIBRE">
    <p:bg>
      <p:bgPr>
        <a:solidFill>
          <a:srgbClr val="1A1A1A"/>
        </a:solid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h62658053f7842d1d_3_268"/>
          <p:cNvSpPr/>
          <p:nvPr/>
        </p:nvSpPr>
        <p:spPr>
          <a:xfrm>
            <a:off x="0" y="0"/>
            <a:ext cx="18288000" cy="915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h62658053f7842d1d_3_268"/>
          <p:cNvSpPr/>
          <p:nvPr/>
        </p:nvSpPr>
        <p:spPr>
          <a:xfrm>
            <a:off x="0" y="10186416"/>
            <a:ext cx="18288000" cy="1005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p2/assets/image11.png" id="64" name="Google Shape;64;h62658053f7842d1d_3_26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6002000" y="-868680"/>
            <a:ext cx="2286000" cy="228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SCURO">
  <p:cSld name="OSCURO">
    <p:bg>
      <p:bgPr>
        <a:solidFill>
          <a:srgbClr val="1A1A1A"/>
        </a:solidFill>
      </p:bgPr>
    </p:bg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h62658053f7842d1d_3_272"/>
          <p:cNvSpPr/>
          <p:nvPr/>
        </p:nvSpPr>
        <p:spPr>
          <a:xfrm>
            <a:off x="0" y="0"/>
            <a:ext cx="18288000" cy="915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h62658053f7842d1d_3_272"/>
          <p:cNvSpPr/>
          <p:nvPr/>
        </p:nvSpPr>
        <p:spPr>
          <a:xfrm>
            <a:off x="0" y="10186416"/>
            <a:ext cx="18288000" cy="1005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h62658053f7842d1d_3_272"/>
          <p:cNvSpPr/>
          <p:nvPr/>
        </p:nvSpPr>
        <p:spPr>
          <a:xfrm>
            <a:off x="8229600" y="1965960"/>
            <a:ext cx="1828800" cy="639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p2/assets/image11.png" id="69" name="Google Shape;69;h62658053f7842d1d_3_2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6002000" y="-868680"/>
            <a:ext cx="2286000" cy="228600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h62658053f7842d1d_3_272"/>
          <p:cNvSpPr txBox="1"/>
          <p:nvPr>
            <p:ph type="title"/>
          </p:nvPr>
        </p:nvSpPr>
        <p:spPr>
          <a:xfrm>
            <a:off x="2377440" y="594360"/>
            <a:ext cx="13533000" cy="12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Antonio"/>
              <a:buNone/>
              <a:defRPr b="0" i="0" sz="6000" u="none" cap="none" strike="noStrike">
                <a:solidFill>
                  <a:schemeClr val="lt1"/>
                </a:solidFill>
                <a:latin typeface="Antonio"/>
                <a:ea typeface="Antonio"/>
                <a:cs typeface="Antonio"/>
                <a:sym typeface="Antoni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8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8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8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8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8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8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8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8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ROJO">
  <p:cSld name="ROJO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home/claude/p2/assets/image11.png" id="72" name="Google Shape;72;h62658053f7842d1d_3_27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002000" y="-868680"/>
            <a:ext cx="2286000" cy="22860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h62658053f7842d1d_3_278"/>
          <p:cNvSpPr txBox="1"/>
          <p:nvPr>
            <p:ph type="title"/>
          </p:nvPr>
        </p:nvSpPr>
        <p:spPr>
          <a:xfrm>
            <a:off x="2377440" y="457200"/>
            <a:ext cx="13533000" cy="12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Antonio"/>
              <a:buNone/>
              <a:defRPr b="0" i="0" sz="6000" u="none" cap="none" strike="noStrike">
                <a:solidFill>
                  <a:schemeClr val="lt1"/>
                </a:solidFill>
                <a:latin typeface="Antonio"/>
                <a:ea typeface="Antonio"/>
                <a:cs typeface="Antonio"/>
                <a:sym typeface="Antoni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8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8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8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8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8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8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8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8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ROJO2">
  <p:cSld name="ROJO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h62658053f7842d1d_3_281"/>
          <p:cNvSpPr/>
          <p:nvPr/>
        </p:nvSpPr>
        <p:spPr>
          <a:xfrm>
            <a:off x="0" y="9509760"/>
            <a:ext cx="18288000" cy="7773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p2/assets/image11.png" id="76" name="Google Shape;76;h62658053f7842d1d_3_2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002000" y="-868680"/>
            <a:ext cx="2286000" cy="228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theme" Target="../theme/theme2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beach-day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h62658053f7842d1d_3_216"/>
          <p:cNvSpPr txBox="1"/>
          <p:nvPr>
            <p:ph type="title"/>
          </p:nvPr>
        </p:nvSpPr>
        <p:spPr>
          <a:xfrm>
            <a:off x="623400" y="585700"/>
            <a:ext cx="17041200" cy="16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400"/>
              <a:buFont typeface="Amatic SC"/>
              <a:buNone/>
              <a:defRPr b="1" sz="84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400"/>
              <a:buFont typeface="Amatic SC"/>
              <a:buNone/>
              <a:defRPr b="1" sz="84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400"/>
              <a:buFont typeface="Amatic SC"/>
              <a:buNone/>
              <a:defRPr b="1" sz="84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400"/>
              <a:buFont typeface="Amatic SC"/>
              <a:buNone/>
              <a:defRPr b="1" sz="84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400"/>
              <a:buFont typeface="Amatic SC"/>
              <a:buNone/>
              <a:defRPr b="1" sz="84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400"/>
              <a:buFont typeface="Amatic SC"/>
              <a:buNone/>
              <a:defRPr b="1" sz="84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400"/>
              <a:buFont typeface="Amatic SC"/>
              <a:buNone/>
              <a:defRPr b="1" sz="84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400"/>
              <a:buFont typeface="Amatic SC"/>
              <a:buNone/>
              <a:defRPr b="1" sz="84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400"/>
              <a:buFont typeface="Amatic SC"/>
              <a:buNone/>
              <a:defRPr b="1" sz="84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9pPr>
          </a:lstStyle>
          <a:p/>
        </p:txBody>
      </p:sp>
      <p:sp>
        <p:nvSpPr>
          <p:cNvPr id="11" name="Google Shape;11;h62658053f7842d1d_3_216"/>
          <p:cNvSpPr txBox="1"/>
          <p:nvPr>
            <p:ph idx="1" type="body"/>
          </p:nvPr>
        </p:nvSpPr>
        <p:spPr>
          <a:xfrm>
            <a:off x="623400" y="2457350"/>
            <a:ext cx="17041200" cy="6680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57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Source Code Pro"/>
              <a:buChar char="●"/>
              <a:defRPr sz="3600"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1pPr>
            <a:lvl2pPr indent="-4064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Source Code Pro"/>
              <a:buChar char="○"/>
              <a:defRPr sz="2800"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2pPr>
            <a:lvl3pPr indent="-4064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Source Code Pro"/>
              <a:buChar char="■"/>
              <a:defRPr sz="2800"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3pPr>
            <a:lvl4pPr indent="-4064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Source Code Pro"/>
              <a:buChar char="●"/>
              <a:defRPr sz="2800"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4pPr>
            <a:lvl5pPr indent="-4064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Source Code Pro"/>
              <a:buChar char="○"/>
              <a:defRPr sz="2800"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5pPr>
            <a:lvl6pPr indent="-4064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Source Code Pro"/>
              <a:buChar char="■"/>
              <a:defRPr sz="2800"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6pPr>
            <a:lvl7pPr indent="-4064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Source Code Pro"/>
              <a:buChar char="●"/>
              <a:defRPr sz="2800"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7pPr>
            <a:lvl8pPr indent="-4064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Source Code Pro"/>
              <a:buChar char="○"/>
              <a:defRPr sz="2800"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8pPr>
            <a:lvl9pPr indent="-4064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Source Code Pro"/>
              <a:buChar char="■"/>
              <a:defRPr sz="2800"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9pPr>
          </a:lstStyle>
          <a:p/>
        </p:txBody>
      </p:sp>
      <p:sp>
        <p:nvSpPr>
          <p:cNvPr id="12" name="Google Shape;12;h62658053f7842d1d_3_216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 algn="r">
              <a:buNone/>
              <a:defRPr sz="2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1pPr>
            <a:lvl2pPr lvl="1" algn="r">
              <a:buNone/>
              <a:defRPr sz="2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2pPr>
            <a:lvl3pPr lvl="2" algn="r">
              <a:buNone/>
              <a:defRPr sz="2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3pPr>
            <a:lvl4pPr lvl="3" algn="r">
              <a:buNone/>
              <a:defRPr sz="2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4pPr>
            <a:lvl5pPr lvl="4" algn="r">
              <a:buNone/>
              <a:defRPr sz="2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5pPr>
            <a:lvl6pPr lvl="5" algn="r">
              <a:buNone/>
              <a:defRPr sz="2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6pPr>
            <a:lvl7pPr lvl="6" algn="r">
              <a:buNone/>
              <a:defRPr sz="2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7pPr>
            <a:lvl8pPr lvl="7" algn="r">
              <a:buNone/>
              <a:defRPr sz="2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8pPr>
            <a:lvl9pPr lvl="8" algn="r">
              <a:buNone/>
              <a:defRPr sz="2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9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9.png"/><Relationship Id="rId5" Type="http://schemas.openxmlformats.org/officeDocument/2006/relationships/image" Target="../media/image2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0" Type="http://schemas.openxmlformats.org/officeDocument/2006/relationships/image" Target="../media/image16.png"/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11.png"/><Relationship Id="rId9" Type="http://schemas.openxmlformats.org/officeDocument/2006/relationships/image" Target="../media/image17.png"/><Relationship Id="rId5" Type="http://schemas.openxmlformats.org/officeDocument/2006/relationships/image" Target="../media/image15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3.jpg"/><Relationship Id="rId4" Type="http://schemas.openxmlformats.org/officeDocument/2006/relationships/image" Target="../media/image27.jpg"/><Relationship Id="rId5" Type="http://schemas.openxmlformats.org/officeDocument/2006/relationships/image" Target="../media/image25.jpg"/><Relationship Id="rId6" Type="http://schemas.openxmlformats.org/officeDocument/2006/relationships/image" Target="../media/image26.jpg"/><Relationship Id="rId7" Type="http://schemas.openxmlformats.org/officeDocument/2006/relationships/image" Target="../media/image24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"/>
          <p:cNvSpPr txBox="1"/>
          <p:nvPr/>
        </p:nvSpPr>
        <p:spPr>
          <a:xfrm>
            <a:off x="1124712" y="3383280"/>
            <a:ext cx="82296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6600"/>
              <a:buFont typeface="Antonio"/>
              <a:buNone/>
            </a:pPr>
            <a:r>
              <a:rPr b="1" i="0" lang="en-US" sz="6600" u="none" cap="none" strike="noStrike">
                <a:solidFill>
                  <a:srgbClr val="E30613"/>
                </a:solidFill>
                <a:latin typeface="Antonio"/>
                <a:ea typeface="Antonio"/>
                <a:cs typeface="Antonio"/>
                <a:sym typeface="Antonio"/>
              </a:rPr>
              <a:t>MINI-TRABAJO</a:t>
            </a:r>
            <a:endParaRPr b="0" i="0" sz="6600" u="none" cap="none" strike="noStrike">
              <a:solidFill>
                <a:srgbClr val="E3061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1"/>
          <p:cNvSpPr txBox="1"/>
          <p:nvPr/>
        </p:nvSpPr>
        <p:spPr>
          <a:xfrm>
            <a:off x="1124712" y="466344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400"/>
              <a:buFont typeface="Calibri"/>
              <a:buNone/>
            </a:pPr>
            <a:r>
              <a:t/>
            </a:r>
            <a:endParaRPr b="0" i="0" sz="2400" u="none" cap="none" strike="noStrike">
              <a:solidFill>
                <a:srgbClr val="E3061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1"/>
          <p:cNvSpPr txBox="1"/>
          <p:nvPr/>
        </p:nvSpPr>
        <p:spPr>
          <a:xfrm>
            <a:off x="1124712" y="5577840"/>
            <a:ext cx="8412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E30613"/>
                </a:solidFill>
                <a:latin typeface="Calibri"/>
                <a:ea typeface="Calibri"/>
                <a:cs typeface="Calibri"/>
                <a:sym typeface="Calibri"/>
              </a:rPr>
              <a:t>Presentador: Fabián Molina | Alexsander Atenas | Kevin Valenzuela</a:t>
            </a:r>
            <a:endParaRPr b="0" i="0" sz="1800" u="none" cap="none" strike="noStrike">
              <a:solidFill>
                <a:srgbClr val="E3061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 txBox="1"/>
          <p:nvPr/>
        </p:nvSpPr>
        <p:spPr>
          <a:xfrm>
            <a:off x="1124712" y="6035040"/>
            <a:ext cx="8412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E30613"/>
                </a:solidFill>
                <a:latin typeface="Calibri"/>
                <a:ea typeface="Calibri"/>
                <a:cs typeface="Calibri"/>
                <a:sym typeface="Calibri"/>
              </a:rPr>
              <a:t>Docente: Aldo Martinez | Capstone | 802D_PRS</a:t>
            </a:r>
            <a:endParaRPr b="0" i="0" sz="1800" u="none" cap="none" strike="noStrike">
              <a:solidFill>
                <a:srgbClr val="E3061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claude/p2/assets/image9.png" id="86" name="Google Shape;8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90300" y="2274900"/>
            <a:ext cx="8997701" cy="480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/>
          <p:nvPr/>
        </p:nvSpPr>
        <p:spPr>
          <a:xfrm>
            <a:off x="548640" y="0"/>
            <a:ext cx="54864" cy="10287000"/>
          </a:xfrm>
          <a:prstGeom prst="rect">
            <a:avLst/>
          </a:prstGeom>
          <a:solidFill>
            <a:schemeClr val="accent1"/>
          </a:solidFill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2"/>
          <p:cNvSpPr txBox="1"/>
          <p:nvPr/>
        </p:nvSpPr>
        <p:spPr>
          <a:xfrm>
            <a:off x="1463040" y="731520"/>
            <a:ext cx="73152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Antonio"/>
              <a:buNone/>
            </a:pPr>
            <a:r>
              <a:rPr b="0" i="0" lang="en-US" sz="6000" u="none" cap="none" strike="noStrike">
                <a:solidFill>
                  <a:schemeClr val="lt1"/>
                </a:solidFill>
                <a:latin typeface="Antonio"/>
                <a:ea typeface="Antonio"/>
                <a:cs typeface="Antonio"/>
                <a:sym typeface="Antonio"/>
              </a:rPr>
              <a:t>ÍNDICE</a:t>
            </a:r>
            <a:endParaRPr b="0" i="0" sz="6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2"/>
          <p:cNvSpPr txBox="1"/>
          <p:nvPr/>
        </p:nvSpPr>
        <p:spPr>
          <a:xfrm>
            <a:off x="1463040" y="2468880"/>
            <a:ext cx="10972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E30613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3000" u="none" cap="none" strike="noStrike">
              <a:solidFill>
                <a:srgbClr val="E3061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2"/>
          <p:cNvSpPr txBox="1"/>
          <p:nvPr/>
        </p:nvSpPr>
        <p:spPr>
          <a:xfrm>
            <a:off x="2651760" y="2468880"/>
            <a:ext cx="6583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Calibri"/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Introducción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2"/>
          <p:cNvSpPr txBox="1"/>
          <p:nvPr/>
        </p:nvSpPr>
        <p:spPr>
          <a:xfrm>
            <a:off x="1463040" y="3703320"/>
            <a:ext cx="10972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E30613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3000" u="none" cap="none" strike="noStrike">
              <a:solidFill>
                <a:srgbClr val="E3061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2"/>
          <p:cNvSpPr txBox="1"/>
          <p:nvPr/>
        </p:nvSpPr>
        <p:spPr>
          <a:xfrm>
            <a:off x="2651760" y="3703320"/>
            <a:ext cx="6583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Calibri"/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Problema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2"/>
          <p:cNvSpPr txBox="1"/>
          <p:nvPr/>
        </p:nvSpPr>
        <p:spPr>
          <a:xfrm>
            <a:off x="1463040" y="4937760"/>
            <a:ext cx="10972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E30613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3000" u="none" cap="none" strike="noStrike">
              <a:solidFill>
                <a:srgbClr val="E3061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2651760" y="4937760"/>
            <a:ext cx="6583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Calibri"/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Solución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1463040" y="6172200"/>
            <a:ext cx="10972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E30613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b="0" i="0" sz="3000" u="none" cap="none" strike="noStrike">
              <a:solidFill>
                <a:srgbClr val="E3061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2"/>
          <p:cNvSpPr txBox="1"/>
          <p:nvPr/>
        </p:nvSpPr>
        <p:spPr>
          <a:xfrm>
            <a:off x="2651760" y="6172200"/>
            <a:ext cx="6583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Calibri"/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Objetivo y metodología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2"/>
          <p:cNvSpPr txBox="1"/>
          <p:nvPr/>
        </p:nvSpPr>
        <p:spPr>
          <a:xfrm>
            <a:off x="1463040" y="7406640"/>
            <a:ext cx="10972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E30613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 b="0" i="0" sz="3000" u="none" cap="none" strike="noStrike">
              <a:solidFill>
                <a:srgbClr val="E3061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"/>
          <p:cNvSpPr txBox="1"/>
          <p:nvPr/>
        </p:nvSpPr>
        <p:spPr>
          <a:xfrm>
            <a:off x="2651760" y="7406640"/>
            <a:ext cx="6583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Calibri"/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Qué se hizo en el Sprint 2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1463040" y="8641080"/>
            <a:ext cx="10972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E30613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 b="0" i="0" sz="3000" u="none" cap="none" strike="noStrike">
              <a:solidFill>
                <a:srgbClr val="E3061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2"/>
          <p:cNvSpPr txBox="1"/>
          <p:nvPr/>
        </p:nvSpPr>
        <p:spPr>
          <a:xfrm>
            <a:off x="2651760" y="8641080"/>
            <a:ext cx="6583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Calibri"/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Tecnologías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2"/>
          <p:cNvSpPr txBox="1"/>
          <p:nvPr/>
        </p:nvSpPr>
        <p:spPr>
          <a:xfrm>
            <a:off x="9692640" y="2468880"/>
            <a:ext cx="10972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E30613"/>
                </a:solidFill>
                <a:latin typeface="Calibri"/>
                <a:ea typeface="Calibri"/>
                <a:cs typeface="Calibri"/>
                <a:sym typeface="Calibri"/>
              </a:rPr>
              <a:t>07</a:t>
            </a:r>
            <a:endParaRPr b="0" i="0" sz="3000" u="none" cap="none" strike="noStrike">
              <a:solidFill>
                <a:srgbClr val="E3061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10881360" y="2468880"/>
            <a:ext cx="6583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Calibri"/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Arquitectura y componentes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2"/>
          <p:cNvSpPr txBox="1"/>
          <p:nvPr/>
        </p:nvSpPr>
        <p:spPr>
          <a:xfrm>
            <a:off x="9692640" y="3703320"/>
            <a:ext cx="10972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E30613"/>
                </a:solidFill>
                <a:latin typeface="Calibri"/>
                <a:ea typeface="Calibri"/>
                <a:cs typeface="Calibri"/>
                <a:sym typeface="Calibri"/>
              </a:rPr>
              <a:t>08</a:t>
            </a:r>
            <a:endParaRPr b="0" i="0" sz="3000" u="none" cap="none" strike="noStrike">
              <a:solidFill>
                <a:srgbClr val="E3061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2"/>
          <p:cNvSpPr txBox="1"/>
          <p:nvPr/>
        </p:nvSpPr>
        <p:spPr>
          <a:xfrm>
            <a:off x="10881360" y="3703320"/>
            <a:ext cx="6583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Calibri"/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Base de datos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2"/>
          <p:cNvSpPr txBox="1"/>
          <p:nvPr/>
        </p:nvSpPr>
        <p:spPr>
          <a:xfrm>
            <a:off x="9692640" y="4937760"/>
            <a:ext cx="10972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E30613"/>
                </a:solidFill>
                <a:latin typeface="Calibri"/>
                <a:ea typeface="Calibri"/>
                <a:cs typeface="Calibri"/>
                <a:sym typeface="Calibri"/>
              </a:rPr>
              <a:t>09</a:t>
            </a:r>
            <a:endParaRPr b="0" i="0" sz="3000" u="none" cap="none" strike="noStrike">
              <a:solidFill>
                <a:srgbClr val="E3061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2"/>
          <p:cNvSpPr txBox="1"/>
          <p:nvPr/>
        </p:nvSpPr>
        <p:spPr>
          <a:xfrm>
            <a:off x="10881360" y="4937760"/>
            <a:ext cx="6583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Calibri"/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Secuencia y casos de uso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2"/>
          <p:cNvSpPr txBox="1"/>
          <p:nvPr/>
        </p:nvSpPr>
        <p:spPr>
          <a:xfrm>
            <a:off x="9692640" y="6172200"/>
            <a:ext cx="10972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E30613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3000" u="none" cap="none" strike="noStrike">
              <a:solidFill>
                <a:srgbClr val="E3061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2"/>
          <p:cNvSpPr txBox="1"/>
          <p:nvPr/>
        </p:nvSpPr>
        <p:spPr>
          <a:xfrm>
            <a:off x="10881360" y="6172200"/>
            <a:ext cx="6583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Calibri"/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Cómo se elaboró el sprint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2"/>
          <p:cNvSpPr txBox="1"/>
          <p:nvPr/>
        </p:nvSpPr>
        <p:spPr>
          <a:xfrm>
            <a:off x="9692640" y="7406640"/>
            <a:ext cx="10972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E30613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3000" u="none" cap="none" strike="noStrike">
              <a:solidFill>
                <a:srgbClr val="E3061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2"/>
          <p:cNvSpPr txBox="1"/>
          <p:nvPr/>
        </p:nvSpPr>
        <p:spPr>
          <a:xfrm>
            <a:off x="9692640" y="8641080"/>
            <a:ext cx="10972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Calibri"/>
              <a:buNone/>
            </a:pPr>
            <a:r>
              <a:t/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2"/>
          <p:cNvSpPr txBox="1"/>
          <p:nvPr/>
        </p:nvSpPr>
        <p:spPr>
          <a:xfrm>
            <a:off x="10789925" y="7464600"/>
            <a:ext cx="3000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Conclusión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"/>
          <p:cNvSpPr/>
          <p:nvPr/>
        </p:nvSpPr>
        <p:spPr>
          <a:xfrm>
            <a:off x="0" y="91440"/>
            <a:ext cx="6858000" cy="10094976"/>
          </a:xfrm>
          <a:prstGeom prst="rect">
            <a:avLst/>
          </a:prstGeom>
          <a:solidFill>
            <a:schemeClr val="accent1"/>
          </a:solidFill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3"/>
          <p:cNvSpPr txBox="1"/>
          <p:nvPr/>
        </p:nvSpPr>
        <p:spPr>
          <a:xfrm>
            <a:off x="548640" y="365760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3"/>
          <p:cNvSpPr txBox="1"/>
          <p:nvPr/>
        </p:nvSpPr>
        <p:spPr>
          <a:xfrm>
            <a:off x="548640" y="4480560"/>
            <a:ext cx="60350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Antonio"/>
              <a:buNone/>
            </a:pPr>
            <a:r>
              <a:rPr b="0" i="0" lang="en-US" sz="5200" u="none" cap="none" strike="noStrike">
                <a:solidFill>
                  <a:schemeClr val="lt1"/>
                </a:solidFill>
                <a:latin typeface="Antonio"/>
                <a:ea typeface="Antonio"/>
                <a:cs typeface="Antonio"/>
                <a:sym typeface="Antonio"/>
              </a:rPr>
              <a:t>INTRODUCCIÓN</a:t>
            </a:r>
            <a:endParaRPr b="0" i="0" sz="5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3"/>
          <p:cNvSpPr txBox="1"/>
          <p:nvPr/>
        </p:nvSpPr>
        <p:spPr>
          <a:xfrm>
            <a:off x="8412480" y="3017520"/>
            <a:ext cx="896112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Calibri"/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Este trabajo resume la Fase 2 de «Mini-Trabajo», una aplicación orientada a la realización de trabajos del día a día, que permite a los usuarios generar ingresos mediante la ejecución de tareas puntuales. Se presenta qué se desarrolló en el Sprint 2 para lograr el MVP: qué se construyó, con qué tecnologías, cómo se estructura y cómo se elaboró el sprint.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"/>
          <p:cNvSpPr txBox="1"/>
          <p:nvPr/>
        </p:nvSpPr>
        <p:spPr>
          <a:xfrm>
            <a:off x="548640" y="365760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4"/>
          <p:cNvSpPr txBox="1"/>
          <p:nvPr>
            <p:ph type="title"/>
          </p:nvPr>
        </p:nvSpPr>
        <p:spPr>
          <a:xfrm>
            <a:off x="2377440" y="594360"/>
            <a:ext cx="1353312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Antonio"/>
              <a:buNone/>
            </a:pPr>
            <a:r>
              <a:rPr lang="en-US" sz="6000">
                <a:solidFill>
                  <a:schemeClr val="lt1"/>
                </a:solidFill>
              </a:rPr>
              <a:t>PROBLEMA</a:t>
            </a:r>
            <a:endParaRPr sz="6000"/>
          </a:p>
        </p:txBody>
      </p:sp>
      <p:sp>
        <p:nvSpPr>
          <p:cNvPr id="133" name="Google Shape;133;p4"/>
          <p:cNvSpPr/>
          <p:nvPr/>
        </p:nvSpPr>
        <p:spPr>
          <a:xfrm>
            <a:off x="2377440" y="2560320"/>
            <a:ext cx="13533120" cy="6583680"/>
          </a:xfrm>
          <a:prstGeom prst="roundRect">
            <a:avLst>
              <a:gd fmla="val 3472" name="adj"/>
            </a:avLst>
          </a:prstGeom>
          <a:solidFill>
            <a:schemeClr val="dk2"/>
          </a:solidFill>
          <a:ln cap="flat" cmpd="sng" w="127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4"/>
          <p:cNvSpPr txBox="1"/>
          <p:nvPr/>
        </p:nvSpPr>
        <p:spPr>
          <a:xfrm>
            <a:off x="3108960" y="3017520"/>
            <a:ext cx="12070080" cy="5669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alibri"/>
              <a:buNone/>
            </a:pPr>
            <a:r>
              <a:rPr b="0" i="0" lang="en-US" sz="3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En Chile, principalmente en contextos urbanos, existe una necesidad recurrente de coordinar tareas o trabajos ocasionales (mini trabajos) entre personas que requieren ayuda puntual y personas dispuestas a realizarlas a cambio de un pago.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40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alibri"/>
              <a:buNone/>
            </a:pPr>
            <a:r>
              <a:rPr b="0" i="0" lang="en-US" sz="3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Hoy quienes necesitan realizar o encontrar un mini-trabajo dependen de contactos personales, grupos de redes sociales o avisos informales. No existe un canal centralizado para publicar y encontrar tareas según ubicación, ni una forma de verificar la confiabilidad de la otra persona antes de coordinar, ni registro del estado de la tarea ni calificación posterior.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5"/>
          <p:cNvSpPr txBox="1"/>
          <p:nvPr/>
        </p:nvSpPr>
        <p:spPr>
          <a:xfrm>
            <a:off x="548640" y="365760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5"/>
          <p:cNvSpPr txBox="1"/>
          <p:nvPr>
            <p:ph type="title"/>
          </p:nvPr>
        </p:nvSpPr>
        <p:spPr>
          <a:xfrm>
            <a:off x="2377440" y="594360"/>
            <a:ext cx="1353312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Antonio"/>
              <a:buNone/>
            </a:pPr>
            <a:r>
              <a:rPr lang="en-US" sz="6000">
                <a:solidFill>
                  <a:schemeClr val="lt1"/>
                </a:solidFill>
              </a:rPr>
              <a:t>SOLUCIÓN</a:t>
            </a:r>
            <a:endParaRPr sz="6000"/>
          </a:p>
        </p:txBody>
      </p:sp>
      <p:sp>
        <p:nvSpPr>
          <p:cNvPr id="142" name="Google Shape;142;p5"/>
          <p:cNvSpPr/>
          <p:nvPr/>
        </p:nvSpPr>
        <p:spPr>
          <a:xfrm>
            <a:off x="914400" y="2468880"/>
            <a:ext cx="8229600" cy="6858000"/>
          </a:xfrm>
          <a:prstGeom prst="roundRect">
            <a:avLst>
              <a:gd fmla="val 3333" name="adj"/>
            </a:avLst>
          </a:prstGeom>
          <a:solidFill>
            <a:schemeClr val="dk2"/>
          </a:solidFill>
          <a:ln cap="flat" cmpd="sng" w="127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5"/>
          <p:cNvSpPr txBox="1"/>
          <p:nvPr/>
        </p:nvSpPr>
        <p:spPr>
          <a:xfrm>
            <a:off x="1463040" y="2834640"/>
            <a:ext cx="7132320" cy="6126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Calibri"/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Una plataforma centralizada donde solicitantes y ejecutores publican, buscan y visualizan mini-trabajos según cercanía. Los perfiles con historial y calificación generan confianza: el ejecutor se postula, el solicitante elige a quién asignar la tarea y ambos coordinan por WhatsApp. El seguimiento de estado (publicada, en curso, completada) ordena todo el ciclo de vida del trabajo. Las funciones premium pagadas dan sustento al modelo de negocio.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claude/p2/assets/image19.png" id="144" name="Google Shape;144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09760" y="2468880"/>
            <a:ext cx="2560320" cy="585216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/home/claude/p2/assets/image18.png" id="145" name="Google Shape;145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207240" y="2468880"/>
            <a:ext cx="2560320" cy="585216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/home/claude/p2/assets/image23.png" id="146" name="Google Shape;146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4904720" y="2468880"/>
            <a:ext cx="2560320" cy="585216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5"/>
          <p:cNvSpPr txBox="1"/>
          <p:nvPr/>
        </p:nvSpPr>
        <p:spPr>
          <a:xfrm>
            <a:off x="9509760" y="8503920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Mockup del diseño (Figma)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6"/>
          <p:cNvSpPr txBox="1"/>
          <p:nvPr/>
        </p:nvSpPr>
        <p:spPr>
          <a:xfrm>
            <a:off x="548640" y="365760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6"/>
          <p:cNvSpPr txBox="1"/>
          <p:nvPr>
            <p:ph type="title"/>
          </p:nvPr>
        </p:nvSpPr>
        <p:spPr>
          <a:xfrm>
            <a:off x="2377440" y="457200"/>
            <a:ext cx="1353312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Antonio"/>
              <a:buNone/>
            </a:pPr>
            <a:r>
              <a:rPr lang="en-US" sz="6000">
                <a:solidFill>
                  <a:schemeClr val="lt1"/>
                </a:solidFill>
              </a:rPr>
              <a:t>OBJETIVO Y METODOLOGÍA</a:t>
            </a:r>
            <a:endParaRPr sz="6000"/>
          </a:p>
        </p:txBody>
      </p:sp>
      <p:pic>
        <p:nvPicPr>
          <p:cNvPr descr="/home/claude/p2/assets/image3.png" id="155" name="Google Shape;155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66928" y="2194560"/>
            <a:ext cx="9262872" cy="6446520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6"/>
          <p:cNvSpPr/>
          <p:nvPr/>
        </p:nvSpPr>
        <p:spPr>
          <a:xfrm>
            <a:off x="10360152" y="2121408"/>
            <a:ext cx="6446520" cy="6675120"/>
          </a:xfrm>
          <a:prstGeom prst="roundRect">
            <a:avLst>
              <a:gd fmla="val 3546" name="adj"/>
            </a:avLst>
          </a:prstGeom>
          <a:solidFill>
            <a:schemeClr val="dk2"/>
          </a:solidFill>
          <a:ln cap="flat" cmpd="sng" w="127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6"/>
          <p:cNvSpPr txBox="1"/>
          <p:nvPr/>
        </p:nvSpPr>
        <p:spPr>
          <a:xfrm>
            <a:off x="10789920" y="2377440"/>
            <a:ext cx="5669280" cy="6217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Scrumban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Calibri"/>
              <a:buNone/>
            </a:pPr>
            <a:r>
              <a:rPr b="0" i="0" lang="en-US" sz="1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Scrum para avanzar con entregas cortas (sprints), combinado con Kanban en Trello, donde las tareas se organizan por estado.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Objetivo del Sprint 2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Calibri"/>
              <a:buNone/>
            </a:pPr>
            <a:r>
              <a:rPr b="0" i="0" lang="en-US" sz="1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Iniciar el desarrollo de las primeras líneas de código de un MVP, tomando como base las épicas del Product Backlog y los KPIs.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Roles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Calibri"/>
              <a:buNone/>
            </a:pPr>
            <a:r>
              <a:rPr b="0" i="0" lang="en-US" sz="1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Scrum: Kevin Valenzuela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Calibri"/>
              <a:buNone/>
            </a:pPr>
            <a:r>
              <a:rPr b="0" i="0" lang="en-US" sz="1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Desarrolladores: Fabián Molina y Alexsander Atenas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7"/>
          <p:cNvSpPr txBox="1"/>
          <p:nvPr/>
        </p:nvSpPr>
        <p:spPr>
          <a:xfrm>
            <a:off x="548640" y="365760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7"/>
          <p:cNvSpPr txBox="1"/>
          <p:nvPr>
            <p:ph type="title"/>
          </p:nvPr>
        </p:nvSpPr>
        <p:spPr>
          <a:xfrm>
            <a:off x="2377440" y="594360"/>
            <a:ext cx="1353312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Antonio"/>
              <a:buNone/>
            </a:pPr>
            <a:r>
              <a:rPr lang="en-US" sz="6000">
                <a:solidFill>
                  <a:schemeClr val="lt1"/>
                </a:solidFill>
              </a:rPr>
              <a:t>QUÉ SE HIZO EN EL SPRINT 2</a:t>
            </a:r>
            <a:endParaRPr sz="6000"/>
          </a:p>
        </p:txBody>
      </p:sp>
      <p:sp>
        <p:nvSpPr>
          <p:cNvPr id="165" name="Google Shape;165;p7"/>
          <p:cNvSpPr/>
          <p:nvPr/>
        </p:nvSpPr>
        <p:spPr>
          <a:xfrm>
            <a:off x="914400" y="2240280"/>
            <a:ext cx="16459200" cy="822960"/>
          </a:xfrm>
          <a:prstGeom prst="roundRect">
            <a:avLst>
              <a:gd fmla="val 22222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14 de 15 historias en Hecho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7"/>
          <p:cNvSpPr/>
          <p:nvPr/>
        </p:nvSpPr>
        <p:spPr>
          <a:xfrm>
            <a:off x="914400" y="3291840"/>
            <a:ext cx="3977640" cy="5577840"/>
          </a:xfrm>
          <a:prstGeom prst="roundRect">
            <a:avLst>
              <a:gd fmla="val 5747" name="adj"/>
            </a:avLst>
          </a:prstGeom>
          <a:solidFill>
            <a:schemeClr val="dk2"/>
          </a:solidFill>
          <a:ln cap="flat" cmpd="sng" w="127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7"/>
          <p:cNvSpPr txBox="1"/>
          <p:nvPr/>
        </p:nvSpPr>
        <p:spPr>
          <a:xfrm>
            <a:off x="1188720" y="3474720"/>
            <a:ext cx="3474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ÉPICA 1 · 4/4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7"/>
          <p:cNvSpPr txBox="1"/>
          <p:nvPr/>
        </p:nvSpPr>
        <p:spPr>
          <a:xfrm>
            <a:off x="1188720" y="3931920"/>
            <a:ext cx="34747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Registro y Perfil de Usuario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7"/>
          <p:cNvSpPr txBox="1"/>
          <p:nvPr/>
        </p:nvSpPr>
        <p:spPr>
          <a:xfrm>
            <a:off x="1188720" y="5029200"/>
            <a:ext cx="347472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libri"/>
              <a:buChar char="•"/>
            </a:pPr>
            <a:r>
              <a:rPr b="0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Registro de cuenta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libri"/>
              <a:buChar char="•"/>
            </a:pPr>
            <a:r>
              <a:rPr b="0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Inicio de sesión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libri"/>
              <a:buChar char="•"/>
            </a:pPr>
            <a:r>
              <a:rPr b="0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Completar perfil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libri"/>
              <a:buChar char="•"/>
            </a:pPr>
            <a:r>
              <a:rPr b="0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Ver reputación e historial de otro usuario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7"/>
          <p:cNvSpPr/>
          <p:nvPr/>
        </p:nvSpPr>
        <p:spPr>
          <a:xfrm>
            <a:off x="5138928" y="3291840"/>
            <a:ext cx="3977640" cy="5577840"/>
          </a:xfrm>
          <a:prstGeom prst="roundRect">
            <a:avLst>
              <a:gd fmla="val 5747" name="adj"/>
            </a:avLst>
          </a:prstGeom>
          <a:solidFill>
            <a:schemeClr val="dk2"/>
          </a:solidFill>
          <a:ln cap="flat" cmpd="sng" w="127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7"/>
          <p:cNvSpPr txBox="1"/>
          <p:nvPr/>
        </p:nvSpPr>
        <p:spPr>
          <a:xfrm>
            <a:off x="5413248" y="3474720"/>
            <a:ext cx="3474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ÉPICA 2 · 4/4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7"/>
          <p:cNvSpPr txBox="1"/>
          <p:nvPr/>
        </p:nvSpPr>
        <p:spPr>
          <a:xfrm>
            <a:off x="5413248" y="3931920"/>
            <a:ext cx="34747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Publicación y Visualización de Tareas (Mapa)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7"/>
          <p:cNvSpPr txBox="1"/>
          <p:nvPr/>
        </p:nvSpPr>
        <p:spPr>
          <a:xfrm>
            <a:off x="5413248" y="5029200"/>
            <a:ext cx="347472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libri"/>
              <a:buChar char="•"/>
            </a:pPr>
            <a:r>
              <a:rPr b="0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Publicar una tarea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libri"/>
              <a:buChar char="•"/>
            </a:pPr>
            <a:r>
              <a:rPr b="0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Ver tareas cercanas en el mapa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libri"/>
              <a:buChar char="•"/>
            </a:pPr>
            <a:r>
              <a:rPr b="0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Filtrar y buscar tareas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libri"/>
              <a:buChar char="•"/>
            </a:pPr>
            <a:r>
              <a:rPr b="0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Ver detalle de una tarea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7"/>
          <p:cNvSpPr/>
          <p:nvPr/>
        </p:nvSpPr>
        <p:spPr>
          <a:xfrm>
            <a:off x="9363456" y="3291840"/>
            <a:ext cx="3977640" cy="5577840"/>
          </a:xfrm>
          <a:prstGeom prst="roundRect">
            <a:avLst>
              <a:gd fmla="val 5747" name="adj"/>
            </a:avLst>
          </a:prstGeom>
          <a:solidFill>
            <a:schemeClr val="dk2"/>
          </a:solidFill>
          <a:ln cap="flat" cmpd="sng" w="127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7"/>
          <p:cNvSpPr txBox="1"/>
          <p:nvPr/>
        </p:nvSpPr>
        <p:spPr>
          <a:xfrm>
            <a:off x="9637776" y="3474720"/>
            <a:ext cx="3474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ÉPICA 3 · 5/5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7"/>
          <p:cNvSpPr txBox="1"/>
          <p:nvPr/>
        </p:nvSpPr>
        <p:spPr>
          <a:xfrm>
            <a:off x="9637776" y="3931920"/>
            <a:ext cx="34747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Aceptación y Ciclo de Vida de la Tarea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7"/>
          <p:cNvSpPr txBox="1"/>
          <p:nvPr/>
        </p:nvSpPr>
        <p:spPr>
          <a:xfrm>
            <a:off x="9637776" y="5029200"/>
            <a:ext cx="347472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libri"/>
              <a:buChar char="•"/>
            </a:pPr>
            <a:r>
              <a:rPr b="0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Aceptar una tarea (postulación)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libri"/>
              <a:buChar char="•"/>
            </a:pPr>
            <a:r>
              <a:rPr b="0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Coordinar detalles (WhatsApp)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libri"/>
              <a:buChar char="•"/>
            </a:pPr>
            <a:r>
              <a:rPr b="0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Marcar tarea como completada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libri"/>
              <a:buChar char="•"/>
            </a:pPr>
            <a:r>
              <a:rPr b="0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Calificar al otro usuario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libri"/>
              <a:buChar char="•"/>
            </a:pPr>
            <a:r>
              <a:rPr b="0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Cancelar una tarea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7"/>
          <p:cNvSpPr/>
          <p:nvPr/>
        </p:nvSpPr>
        <p:spPr>
          <a:xfrm>
            <a:off x="13587984" y="3291840"/>
            <a:ext cx="3977640" cy="5577840"/>
          </a:xfrm>
          <a:prstGeom prst="roundRect">
            <a:avLst>
              <a:gd fmla="val 5747" name="adj"/>
            </a:avLst>
          </a:prstGeom>
          <a:solidFill>
            <a:schemeClr val="dk2"/>
          </a:solidFill>
          <a:ln cap="flat" cmpd="sng" w="127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7"/>
          <p:cNvSpPr txBox="1"/>
          <p:nvPr/>
        </p:nvSpPr>
        <p:spPr>
          <a:xfrm>
            <a:off x="13862304" y="3474720"/>
            <a:ext cx="3474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ÉPICA 4 · 1/2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7"/>
          <p:cNvSpPr txBox="1"/>
          <p:nvPr/>
        </p:nvSpPr>
        <p:spPr>
          <a:xfrm>
            <a:off x="13862304" y="3931920"/>
            <a:ext cx="34747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Funcionalidades Premium (Monetización)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7"/>
          <p:cNvSpPr txBox="1"/>
          <p:nvPr/>
        </p:nvSpPr>
        <p:spPr>
          <a:xfrm>
            <a:off x="13862304" y="5029200"/>
            <a:ext cx="347472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libri"/>
              <a:buChar char="•"/>
            </a:pPr>
            <a:r>
              <a:rPr b="0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Contratar destacado de perfil o tarea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alibri"/>
              <a:buChar char="•"/>
            </a:pPr>
            <a:r>
              <a:rPr b="0" i="0" lang="en-US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Gestionar métodos de pago (en progreso)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7"/>
          <p:cNvSpPr txBox="1"/>
          <p:nvPr/>
        </p:nvSpPr>
        <p:spPr>
          <a:xfrm>
            <a:off x="914400" y="9052560"/>
            <a:ext cx="16459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700"/>
              <a:buFont typeface="Calibri"/>
              <a:buNone/>
            </a:pPr>
            <a:r>
              <a:rPr b="0" i="0" lang="en-US" sz="17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Estado según el tablero de Trello (octubre de 2026). Simulado en esta fase: el PIN de verificación al iniciar sesión y la compra de créditos.</a:t>
            </a:r>
            <a:endParaRPr b="0" i="0" sz="17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8"/>
          <p:cNvSpPr txBox="1"/>
          <p:nvPr/>
        </p:nvSpPr>
        <p:spPr>
          <a:xfrm>
            <a:off x="548640" y="365760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8"/>
          <p:cNvSpPr txBox="1"/>
          <p:nvPr>
            <p:ph type="title"/>
          </p:nvPr>
        </p:nvSpPr>
        <p:spPr>
          <a:xfrm>
            <a:off x="2377440" y="594360"/>
            <a:ext cx="1353312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Antonio"/>
              <a:buNone/>
            </a:pPr>
            <a:r>
              <a:rPr lang="en-US" sz="6000">
                <a:solidFill>
                  <a:schemeClr val="lt1"/>
                </a:solidFill>
              </a:rPr>
              <a:t>TECNOLOGÍAS</a:t>
            </a:r>
            <a:endParaRPr sz="6000"/>
          </a:p>
        </p:txBody>
      </p:sp>
      <p:sp>
        <p:nvSpPr>
          <p:cNvPr id="190" name="Google Shape;190;p8"/>
          <p:cNvSpPr/>
          <p:nvPr/>
        </p:nvSpPr>
        <p:spPr>
          <a:xfrm>
            <a:off x="914400" y="2377440"/>
            <a:ext cx="3977640" cy="3474720"/>
          </a:xfrm>
          <a:prstGeom prst="roundRect">
            <a:avLst>
              <a:gd fmla="val 6579" name="adj"/>
            </a:avLst>
          </a:prstGeom>
          <a:solidFill>
            <a:schemeClr val="dk2"/>
          </a:solidFill>
          <a:ln cap="flat" cmpd="sng" w="127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p2/assets/image5.png" id="191" name="Google Shape;191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40180" y="2537460"/>
            <a:ext cx="2926080" cy="1920240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8"/>
          <p:cNvSpPr txBox="1"/>
          <p:nvPr/>
        </p:nvSpPr>
        <p:spPr>
          <a:xfrm>
            <a:off x="1097280" y="4480560"/>
            <a:ext cx="3611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React Native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8"/>
          <p:cNvSpPr txBox="1"/>
          <p:nvPr/>
        </p:nvSpPr>
        <p:spPr>
          <a:xfrm>
            <a:off x="1001268" y="4983480"/>
            <a:ext cx="36120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App móvil</a:t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8"/>
          <p:cNvSpPr/>
          <p:nvPr/>
        </p:nvSpPr>
        <p:spPr>
          <a:xfrm>
            <a:off x="5138928" y="2377440"/>
            <a:ext cx="3977640" cy="3474720"/>
          </a:xfrm>
          <a:prstGeom prst="roundRect">
            <a:avLst>
              <a:gd fmla="val 6579" name="adj"/>
            </a:avLst>
          </a:prstGeom>
          <a:solidFill>
            <a:schemeClr val="dk2"/>
          </a:solidFill>
          <a:ln cap="flat" cmpd="sng" w="127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8"/>
          <p:cNvSpPr txBox="1"/>
          <p:nvPr/>
        </p:nvSpPr>
        <p:spPr>
          <a:xfrm>
            <a:off x="5321808" y="4480560"/>
            <a:ext cx="3611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Expo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8"/>
          <p:cNvSpPr txBox="1"/>
          <p:nvPr/>
        </p:nvSpPr>
        <p:spPr>
          <a:xfrm>
            <a:off x="5225796" y="4983480"/>
            <a:ext cx="36120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Desarrollo y pruebas en el celular</a:t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8"/>
          <p:cNvSpPr/>
          <p:nvPr/>
        </p:nvSpPr>
        <p:spPr>
          <a:xfrm>
            <a:off x="9363456" y="2377440"/>
            <a:ext cx="3977640" cy="3474720"/>
          </a:xfrm>
          <a:prstGeom prst="roundRect">
            <a:avLst>
              <a:gd fmla="val 6579" name="adj"/>
            </a:avLst>
          </a:prstGeom>
          <a:solidFill>
            <a:schemeClr val="dk2"/>
          </a:solidFill>
          <a:ln cap="flat" cmpd="sng" w="127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p2/assets/image8.png" id="198" name="Google Shape;198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483596" y="2628900"/>
            <a:ext cx="1737360" cy="1737360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8"/>
          <p:cNvSpPr txBox="1"/>
          <p:nvPr/>
        </p:nvSpPr>
        <p:spPr>
          <a:xfrm>
            <a:off x="9546336" y="4480560"/>
            <a:ext cx="3611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TypeScript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8"/>
          <p:cNvSpPr txBox="1"/>
          <p:nvPr/>
        </p:nvSpPr>
        <p:spPr>
          <a:xfrm>
            <a:off x="9450324" y="4983480"/>
            <a:ext cx="36120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Lenguaje tipado</a:t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8"/>
          <p:cNvSpPr/>
          <p:nvPr/>
        </p:nvSpPr>
        <p:spPr>
          <a:xfrm>
            <a:off x="13587984" y="2377440"/>
            <a:ext cx="3977640" cy="3474720"/>
          </a:xfrm>
          <a:prstGeom prst="roundRect">
            <a:avLst>
              <a:gd fmla="val 6579" name="adj"/>
            </a:avLst>
          </a:prstGeom>
          <a:solidFill>
            <a:schemeClr val="dk2"/>
          </a:solidFill>
          <a:ln cap="flat" cmpd="sng" w="127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8"/>
          <p:cNvSpPr txBox="1"/>
          <p:nvPr/>
        </p:nvSpPr>
        <p:spPr>
          <a:xfrm>
            <a:off x="13770864" y="4480560"/>
            <a:ext cx="3611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Supabase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8"/>
          <p:cNvSpPr txBox="1"/>
          <p:nvPr/>
        </p:nvSpPr>
        <p:spPr>
          <a:xfrm>
            <a:off x="13674852" y="4983480"/>
            <a:ext cx="36120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Autenticación, API y almacenamiento</a:t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8"/>
          <p:cNvSpPr/>
          <p:nvPr/>
        </p:nvSpPr>
        <p:spPr>
          <a:xfrm>
            <a:off x="914400" y="6126480"/>
            <a:ext cx="3977640" cy="3474720"/>
          </a:xfrm>
          <a:prstGeom prst="roundRect">
            <a:avLst>
              <a:gd fmla="val 6579" name="adj"/>
            </a:avLst>
          </a:prstGeom>
          <a:solidFill>
            <a:schemeClr val="dk2"/>
          </a:solidFill>
          <a:ln cap="flat" cmpd="sng" w="127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p2/assets/image10.png" id="205" name="Google Shape;205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034540" y="6377940"/>
            <a:ext cx="1737360" cy="1737360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8"/>
          <p:cNvSpPr txBox="1"/>
          <p:nvPr/>
        </p:nvSpPr>
        <p:spPr>
          <a:xfrm>
            <a:off x="1097280" y="8229600"/>
            <a:ext cx="3611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PostgreSQL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8"/>
          <p:cNvSpPr txBox="1"/>
          <p:nvPr/>
        </p:nvSpPr>
        <p:spPr>
          <a:xfrm>
            <a:off x="1097280" y="8732520"/>
            <a:ext cx="36118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Base de datos relacional</a:t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8"/>
          <p:cNvSpPr/>
          <p:nvPr/>
        </p:nvSpPr>
        <p:spPr>
          <a:xfrm>
            <a:off x="5138928" y="6126480"/>
            <a:ext cx="3977640" cy="3474720"/>
          </a:xfrm>
          <a:prstGeom prst="roundRect">
            <a:avLst>
              <a:gd fmla="val 6579" name="adj"/>
            </a:avLst>
          </a:prstGeom>
          <a:solidFill>
            <a:schemeClr val="dk2"/>
          </a:solidFill>
          <a:ln cap="flat" cmpd="sng" w="127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p2/assets/image27.png" id="209" name="Google Shape;209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9068" y="6377940"/>
            <a:ext cx="1737360" cy="173736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8"/>
          <p:cNvSpPr txBox="1"/>
          <p:nvPr/>
        </p:nvSpPr>
        <p:spPr>
          <a:xfrm>
            <a:off x="5321808" y="8229600"/>
            <a:ext cx="3611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GitHub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8"/>
          <p:cNvSpPr txBox="1"/>
          <p:nvPr/>
        </p:nvSpPr>
        <p:spPr>
          <a:xfrm>
            <a:off x="5321808" y="8732520"/>
            <a:ext cx="36118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Repositorio y control de versiones</a:t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8"/>
          <p:cNvSpPr/>
          <p:nvPr/>
        </p:nvSpPr>
        <p:spPr>
          <a:xfrm>
            <a:off x="9363456" y="6126480"/>
            <a:ext cx="3977640" cy="3474720"/>
          </a:xfrm>
          <a:prstGeom prst="roundRect">
            <a:avLst>
              <a:gd fmla="val 6579" name="adj"/>
            </a:avLst>
          </a:prstGeom>
          <a:solidFill>
            <a:schemeClr val="dk2"/>
          </a:solidFill>
          <a:ln cap="flat" cmpd="sng" w="127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p2/assets/image22.png" id="213" name="Google Shape;213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483596" y="6377940"/>
            <a:ext cx="1737360" cy="1737360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8"/>
          <p:cNvSpPr txBox="1"/>
          <p:nvPr/>
        </p:nvSpPr>
        <p:spPr>
          <a:xfrm>
            <a:off x="9546336" y="8229600"/>
            <a:ext cx="3611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Trello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8"/>
          <p:cNvSpPr txBox="1"/>
          <p:nvPr/>
        </p:nvSpPr>
        <p:spPr>
          <a:xfrm>
            <a:off x="9450324" y="8732520"/>
            <a:ext cx="36120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Gestión Kanban del proyecto</a:t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8"/>
          <p:cNvSpPr/>
          <p:nvPr/>
        </p:nvSpPr>
        <p:spPr>
          <a:xfrm>
            <a:off x="13587984" y="6126480"/>
            <a:ext cx="3977640" cy="3474720"/>
          </a:xfrm>
          <a:prstGeom prst="roundRect">
            <a:avLst>
              <a:gd fmla="val 6579" name="adj"/>
            </a:avLst>
          </a:prstGeom>
          <a:solidFill>
            <a:schemeClr val="dk2"/>
          </a:solidFill>
          <a:ln cap="flat" cmpd="sng" w="127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8"/>
          <p:cNvSpPr txBox="1"/>
          <p:nvPr/>
        </p:nvSpPr>
        <p:spPr>
          <a:xfrm>
            <a:off x="13770864" y="8229600"/>
            <a:ext cx="3611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Figma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8"/>
          <p:cNvSpPr txBox="1"/>
          <p:nvPr/>
        </p:nvSpPr>
        <p:spPr>
          <a:xfrm>
            <a:off x="13674852" y="8732520"/>
            <a:ext cx="36120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Diseño del mockup</a:t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9" name="Google Shape;219;p8" title="Supabase Icon - Colored - 990x1024 - zonalogo.com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4567003" y="2560325"/>
            <a:ext cx="1679671" cy="1737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8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14936725" y="6332200"/>
            <a:ext cx="1280167" cy="1920251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8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6287913" y="2589163"/>
            <a:ext cx="1679676" cy="16796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9"/>
          <p:cNvSpPr txBox="1"/>
          <p:nvPr/>
        </p:nvSpPr>
        <p:spPr>
          <a:xfrm>
            <a:off x="548640" y="365760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07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9"/>
          <p:cNvSpPr txBox="1"/>
          <p:nvPr>
            <p:ph type="title"/>
          </p:nvPr>
        </p:nvSpPr>
        <p:spPr>
          <a:xfrm>
            <a:off x="2377440" y="594360"/>
            <a:ext cx="1353312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Antonio"/>
              <a:buNone/>
            </a:pPr>
            <a:r>
              <a:rPr lang="en-US" sz="6000">
                <a:solidFill>
                  <a:schemeClr val="lt1"/>
                </a:solidFill>
              </a:rPr>
              <a:t>ARQUITECTURA Y COMPONENTES</a:t>
            </a:r>
            <a:endParaRPr sz="6000"/>
          </a:p>
        </p:txBody>
      </p:sp>
      <p:sp>
        <p:nvSpPr>
          <p:cNvPr id="229" name="Google Shape;229;p9"/>
          <p:cNvSpPr/>
          <p:nvPr/>
        </p:nvSpPr>
        <p:spPr>
          <a:xfrm>
            <a:off x="914400" y="2377440"/>
            <a:ext cx="6675120" cy="6949440"/>
          </a:xfrm>
          <a:prstGeom prst="roundRect">
            <a:avLst>
              <a:gd fmla="val 3425" name="adj"/>
            </a:avLst>
          </a:prstGeom>
          <a:solidFill>
            <a:schemeClr val="dk2"/>
          </a:solidFill>
          <a:ln cap="flat" cmpd="sng" w="127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9"/>
          <p:cNvSpPr txBox="1"/>
          <p:nvPr/>
        </p:nvSpPr>
        <p:spPr>
          <a:xfrm>
            <a:off x="1371600" y="2743200"/>
            <a:ext cx="5852160" cy="6309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Cliente-servidor sobre BaaS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40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Calibri"/>
              <a:buChar char="•"/>
            </a:pPr>
            <a:r>
              <a:rPr b="0" i="0" lang="en-US" sz="2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La app móvil se comunica directo con Supabase mediante su SDK y su API REST (PostgREST), sin servidor intermedio dedicado.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Calibri"/>
              <a:buChar char="•"/>
            </a:pPr>
            <a:r>
              <a:rPr b="0" i="0" lang="en-US" sz="2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Autenticación con Supabase Auth (sesiones JWT).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Calibri"/>
              <a:buChar char="•"/>
            </a:pPr>
            <a:r>
              <a:rPr b="0" i="0" lang="en-US" sz="2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Decisión del 29-09: se pasó de Node.js + Express (MVC) a Supabase, y se actualizaron el diagrama de componentes y el mapa tecnológico.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1" name="Google Shape;231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14895" y="2762245"/>
            <a:ext cx="7248525" cy="4762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0"/>
          <p:cNvSpPr txBox="1"/>
          <p:nvPr/>
        </p:nvSpPr>
        <p:spPr>
          <a:xfrm>
            <a:off x="548640" y="365760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08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0"/>
          <p:cNvSpPr txBox="1"/>
          <p:nvPr>
            <p:ph type="title"/>
          </p:nvPr>
        </p:nvSpPr>
        <p:spPr>
          <a:xfrm>
            <a:off x="2377440" y="594360"/>
            <a:ext cx="1353312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Antonio"/>
              <a:buNone/>
            </a:pPr>
            <a:r>
              <a:rPr lang="en-US" sz="6000">
                <a:solidFill>
                  <a:schemeClr val="lt1"/>
                </a:solidFill>
              </a:rPr>
              <a:t>BASE DE DATOS</a:t>
            </a:r>
            <a:endParaRPr sz="6000"/>
          </a:p>
        </p:txBody>
      </p:sp>
      <p:sp>
        <p:nvSpPr>
          <p:cNvPr id="239" name="Google Shape;239;p10"/>
          <p:cNvSpPr/>
          <p:nvPr/>
        </p:nvSpPr>
        <p:spPr>
          <a:xfrm>
            <a:off x="914400" y="2377440"/>
            <a:ext cx="6217920" cy="6949440"/>
          </a:xfrm>
          <a:prstGeom prst="roundRect">
            <a:avLst>
              <a:gd fmla="val 3676" name="adj"/>
            </a:avLst>
          </a:prstGeom>
          <a:solidFill>
            <a:schemeClr val="dk2"/>
          </a:solidFill>
          <a:ln cap="flat" cmpd="sng" w="127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10"/>
          <p:cNvSpPr txBox="1"/>
          <p:nvPr/>
        </p:nvSpPr>
        <p:spPr>
          <a:xfrm>
            <a:off x="1371600" y="2743200"/>
            <a:ext cx="5394960" cy="6309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Supabase · PostgreSQL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7 tablas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Calibri"/>
              <a:buChar char="•"/>
            </a:pPr>
            <a:r>
              <a:rPr b="0" i="0" lang="en-US" sz="2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perfiles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Calibri"/>
              <a:buChar char="•"/>
            </a:pPr>
            <a:r>
              <a:rPr b="0" i="0" lang="en-US" sz="2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trabajos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Calibri"/>
              <a:buChar char="•"/>
            </a:pPr>
            <a:r>
              <a:rPr b="0" i="0" lang="en-US" sz="2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postulaciones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Calibri"/>
              <a:buChar char="•"/>
            </a:pPr>
            <a:r>
              <a:rPr b="0" i="0" lang="en-US" sz="2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resenas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Calibri"/>
              <a:buChar char="•"/>
            </a:pPr>
            <a:r>
              <a:rPr b="0" i="0" lang="en-US" sz="2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categorias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Calibri"/>
              <a:buChar char="•"/>
            </a:pPr>
            <a:r>
              <a:rPr b="0" i="0" lang="en-US" sz="2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comunas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Calibri"/>
              <a:buChar char="•"/>
            </a:pPr>
            <a:r>
              <a:rPr b="0" i="0" lang="en-US" sz="2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regiones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800"/>
              </a:spcBef>
              <a:spcAft>
                <a:spcPts val="0"/>
              </a:spcAft>
              <a:buClr>
                <a:schemeClr val="accent5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latin typeface="Calibri"/>
                <a:ea typeface="Calibri"/>
                <a:cs typeface="Calibri"/>
                <a:sym typeface="Calibri"/>
              </a:rPr>
              <a:t>Imágenes en Supabase Storage (buckets </a:t>
            </a:r>
            <a:r>
              <a:rPr b="0" i="0" lang="en-US" sz="1800" u="none" cap="none" strike="noStrike">
                <a:latin typeface="Calibri"/>
                <a:ea typeface="Calibri"/>
                <a:cs typeface="Calibri"/>
                <a:sym typeface="Calibri"/>
              </a:rPr>
              <a:t>avatars</a:t>
            </a:r>
            <a:r>
              <a:rPr b="0" i="0" lang="en-US" sz="1800" u="none" cap="none" strike="noStrike">
                <a:latin typeface="Calibri"/>
                <a:ea typeface="Calibri"/>
                <a:cs typeface="Calibri"/>
                <a:sym typeface="Calibri"/>
              </a:rPr>
              <a:t> y trabajos).</a:t>
            </a:r>
            <a:endParaRPr b="0" i="0" sz="2200" u="none" cap="none" strike="noStrike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1" name="Google Shape;241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75120" y="2377445"/>
            <a:ext cx="7620000" cy="6429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1"/>
          <p:cNvSpPr txBox="1"/>
          <p:nvPr/>
        </p:nvSpPr>
        <p:spPr>
          <a:xfrm>
            <a:off x="548640" y="365760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09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1"/>
          <p:cNvSpPr txBox="1"/>
          <p:nvPr>
            <p:ph type="title"/>
          </p:nvPr>
        </p:nvSpPr>
        <p:spPr>
          <a:xfrm>
            <a:off x="2377440" y="594360"/>
            <a:ext cx="1353312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Antonio"/>
              <a:buNone/>
            </a:pPr>
            <a:r>
              <a:rPr lang="en-US" sz="6000">
                <a:solidFill>
                  <a:schemeClr val="lt1"/>
                </a:solidFill>
              </a:rPr>
              <a:t>SECUENCIA Y CASOS DE USO</a:t>
            </a:r>
            <a:endParaRPr sz="6000"/>
          </a:p>
        </p:txBody>
      </p:sp>
      <p:pic>
        <p:nvPicPr>
          <p:cNvPr id="249" name="Google Shape;249;p11" title="Diagrama sin título-Crear publicación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8650" y="2524351"/>
            <a:ext cx="8321051" cy="6015559"/>
          </a:xfrm>
          <a:prstGeom prst="rect">
            <a:avLst/>
          </a:prstGeom>
          <a:noFill/>
          <a:ln>
            <a:noFill/>
          </a:ln>
        </p:spPr>
      </p:pic>
      <p:pic>
        <p:nvPicPr>
          <p:cNvPr id="250" name="Google Shape;250;p11" title="caso de uso epica 1.jpe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92871" y="2971848"/>
            <a:ext cx="2852884" cy="2563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1" name="Google Shape;251;p11" title="caso de uso epica 2.jpe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3301228" y="2971848"/>
            <a:ext cx="3126431" cy="2563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252" name="Google Shape;252;p11" title="caso de uso epica 3.jpe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92879" y="5799588"/>
            <a:ext cx="2903363" cy="2563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11" title="caso de uso epica 4.jpe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301225" y="5931984"/>
            <a:ext cx="4556662" cy="22983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2"/>
          <p:cNvSpPr txBox="1"/>
          <p:nvPr/>
        </p:nvSpPr>
        <p:spPr>
          <a:xfrm>
            <a:off x="548640" y="365760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2"/>
          <p:cNvSpPr txBox="1"/>
          <p:nvPr>
            <p:ph type="title"/>
          </p:nvPr>
        </p:nvSpPr>
        <p:spPr>
          <a:xfrm>
            <a:off x="2377440" y="594360"/>
            <a:ext cx="1353312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Antonio"/>
              <a:buNone/>
            </a:pPr>
            <a:r>
              <a:rPr lang="en-US" sz="6000">
                <a:solidFill>
                  <a:schemeClr val="lt1"/>
                </a:solidFill>
              </a:rPr>
              <a:t>CÓMO SE ELABORÓ EL SPRINT</a:t>
            </a:r>
            <a:endParaRPr sz="6000"/>
          </a:p>
        </p:txBody>
      </p:sp>
      <p:cxnSp>
        <p:nvCxnSpPr>
          <p:cNvPr id="261" name="Google Shape;261;p12"/>
          <p:cNvCxnSpPr/>
          <p:nvPr/>
        </p:nvCxnSpPr>
        <p:spPr>
          <a:xfrm>
            <a:off x="914400" y="4846320"/>
            <a:ext cx="16459200" cy="0"/>
          </a:xfrm>
          <a:prstGeom prst="straightConnector1">
            <a:avLst/>
          </a:prstGeom>
          <a:noFill/>
          <a:ln cap="flat" cmpd="sng" w="254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2" name="Google Shape;262;p12"/>
          <p:cNvSpPr txBox="1"/>
          <p:nvPr/>
        </p:nvSpPr>
        <p:spPr>
          <a:xfrm>
            <a:off x="914400" y="3383280"/>
            <a:ext cx="30174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AGOSTO</a:t>
            </a:r>
            <a:endParaRPr b="0" i="0" sz="2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2"/>
          <p:cNvSpPr/>
          <p:nvPr/>
        </p:nvSpPr>
        <p:spPr>
          <a:xfrm>
            <a:off x="914400" y="4617720"/>
            <a:ext cx="457200" cy="457200"/>
          </a:xfrm>
          <a:prstGeom prst="ellipse">
            <a:avLst/>
          </a:prstGeom>
          <a:solidFill>
            <a:schemeClr val="accent1"/>
          </a:solidFill>
          <a:ln cap="flat" cmpd="sng" w="381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12"/>
          <p:cNvSpPr txBox="1"/>
          <p:nvPr/>
        </p:nvSpPr>
        <p:spPr>
          <a:xfrm>
            <a:off x="914400" y="5577840"/>
            <a:ext cx="30175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Pensamos el producto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2"/>
          <p:cNvSpPr txBox="1"/>
          <p:nvPr/>
        </p:nvSpPr>
        <p:spPr>
          <a:xfrm>
            <a:off x="914400" y="6583680"/>
            <a:ext cx="3017520" cy="3108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000"/>
              <a:buFont typeface="Calibri"/>
              <a:buNone/>
            </a:pPr>
            <a:r>
              <a:rPr b="0" i="0" lang="en-US" sz="2000" u="none" cap="none" strike="noStrike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Definimos la visión, las 15 historias de usuario, el mockup, los riesgos y los KPIs.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2"/>
          <p:cNvSpPr txBox="1"/>
          <p:nvPr/>
        </p:nvSpPr>
        <p:spPr>
          <a:xfrm>
            <a:off x="4224528" y="3383280"/>
            <a:ext cx="30174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14 SEP</a:t>
            </a:r>
            <a:endParaRPr b="0" i="0" sz="2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2"/>
          <p:cNvSpPr/>
          <p:nvPr/>
        </p:nvSpPr>
        <p:spPr>
          <a:xfrm>
            <a:off x="4224528" y="4617720"/>
            <a:ext cx="457200" cy="457200"/>
          </a:xfrm>
          <a:prstGeom prst="ellipse">
            <a:avLst/>
          </a:prstGeom>
          <a:solidFill>
            <a:schemeClr val="accent1"/>
          </a:solidFill>
          <a:ln cap="flat" cmpd="sng" w="381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12"/>
          <p:cNvSpPr txBox="1"/>
          <p:nvPr/>
        </p:nvSpPr>
        <p:spPr>
          <a:xfrm>
            <a:off x="4224528" y="5577840"/>
            <a:ext cx="30175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Empezamos a construir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2"/>
          <p:cNvSpPr txBox="1"/>
          <p:nvPr/>
        </p:nvSpPr>
        <p:spPr>
          <a:xfrm>
            <a:off x="4224528" y="6583680"/>
            <a:ext cx="3017520" cy="3108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000"/>
              <a:buFont typeface="Calibri"/>
              <a:buNone/>
            </a:pPr>
            <a:r>
              <a:rPr b="0" i="0" lang="en-US" sz="2000" u="none" cap="none" strike="noStrike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Planificamos el Sprint 2: las primeras líneas de código de un MVP.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2"/>
          <p:cNvSpPr txBox="1"/>
          <p:nvPr/>
        </p:nvSpPr>
        <p:spPr>
          <a:xfrm>
            <a:off x="7534656" y="3383280"/>
            <a:ext cx="30174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29 SEP</a:t>
            </a:r>
            <a:endParaRPr b="0" i="0" sz="2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2"/>
          <p:cNvSpPr/>
          <p:nvPr/>
        </p:nvSpPr>
        <p:spPr>
          <a:xfrm>
            <a:off x="7534656" y="4617720"/>
            <a:ext cx="457200" cy="457200"/>
          </a:xfrm>
          <a:prstGeom prst="ellipse">
            <a:avLst/>
          </a:prstGeom>
          <a:solidFill>
            <a:schemeClr val="accent1"/>
          </a:solidFill>
          <a:ln cap="flat" cmpd="sng" w="381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p12"/>
          <p:cNvSpPr txBox="1"/>
          <p:nvPr/>
        </p:nvSpPr>
        <p:spPr>
          <a:xfrm>
            <a:off x="7534656" y="5577840"/>
            <a:ext cx="30175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Primer cambio de rumbo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2"/>
          <p:cNvSpPr txBox="1"/>
          <p:nvPr/>
        </p:nvSpPr>
        <p:spPr>
          <a:xfrm>
            <a:off x="7534656" y="6583680"/>
            <a:ext cx="3017520" cy="3108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000"/>
              <a:buFont typeface="Calibri"/>
              <a:buNone/>
            </a:pPr>
            <a:r>
              <a:rPr b="0" i="0" lang="en-US" sz="2000" u="none" cap="none" strike="noStrike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En vez de un servidor propio (Node.js + Express), usamos Supabase.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2"/>
          <p:cNvSpPr txBox="1"/>
          <p:nvPr/>
        </p:nvSpPr>
        <p:spPr>
          <a:xfrm>
            <a:off x="10844784" y="3383280"/>
            <a:ext cx="30174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OCTUBRE</a:t>
            </a:r>
            <a:endParaRPr b="0" i="0" sz="2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2"/>
          <p:cNvSpPr/>
          <p:nvPr/>
        </p:nvSpPr>
        <p:spPr>
          <a:xfrm>
            <a:off x="10844784" y="4617720"/>
            <a:ext cx="457200" cy="457200"/>
          </a:xfrm>
          <a:prstGeom prst="ellipse">
            <a:avLst/>
          </a:prstGeom>
          <a:solidFill>
            <a:schemeClr val="accent1"/>
          </a:solidFill>
          <a:ln cap="flat" cmpd="sng" w="381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12"/>
          <p:cNvSpPr txBox="1"/>
          <p:nvPr/>
        </p:nvSpPr>
        <p:spPr>
          <a:xfrm>
            <a:off x="10844784" y="5577840"/>
            <a:ext cx="30175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Segundo cambio de rumbo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2"/>
          <p:cNvSpPr txBox="1"/>
          <p:nvPr/>
        </p:nvSpPr>
        <p:spPr>
          <a:xfrm>
            <a:off x="10844784" y="6583680"/>
            <a:ext cx="3017520" cy="3108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000"/>
              <a:buFont typeface="Calibri"/>
              <a:buNone/>
            </a:pPr>
            <a:r>
              <a:rPr b="0" i="0" lang="en-US" sz="2000" u="none" cap="none" strike="noStrike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El ejecutor se postula y el solicitante elige; la coordinación pasa del chat interno a WhatsApp.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2"/>
          <p:cNvSpPr txBox="1"/>
          <p:nvPr/>
        </p:nvSpPr>
        <p:spPr>
          <a:xfrm>
            <a:off x="14154912" y="3383280"/>
            <a:ext cx="30174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HOY</a:t>
            </a:r>
            <a:endParaRPr b="0" i="0" sz="2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2"/>
          <p:cNvSpPr/>
          <p:nvPr/>
        </p:nvSpPr>
        <p:spPr>
          <a:xfrm>
            <a:off x="14154912" y="4617720"/>
            <a:ext cx="457200" cy="457200"/>
          </a:xfrm>
          <a:prstGeom prst="ellipse">
            <a:avLst/>
          </a:prstGeom>
          <a:solidFill>
            <a:schemeClr val="lt1"/>
          </a:solidFill>
          <a:ln cap="flat" cmpd="sng" w="381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12"/>
          <p:cNvSpPr txBox="1"/>
          <p:nvPr/>
        </p:nvSpPr>
        <p:spPr>
          <a:xfrm>
            <a:off x="14154912" y="5577840"/>
            <a:ext cx="30175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MVP en marcha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2"/>
          <p:cNvSpPr txBox="1"/>
          <p:nvPr/>
        </p:nvSpPr>
        <p:spPr>
          <a:xfrm>
            <a:off x="14154912" y="6583680"/>
            <a:ext cx="3017520" cy="3108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000"/>
              <a:buFont typeface="Calibri"/>
              <a:buNone/>
            </a:pPr>
            <a:r>
              <a:rPr b="0" i="0" lang="en-US" sz="2000" u="none" cap="none" strike="noStrike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14 de 15 historias en Hecho; queda en progreso la gestión de métodos de pago.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4"/>
          <p:cNvSpPr txBox="1"/>
          <p:nvPr/>
        </p:nvSpPr>
        <p:spPr>
          <a:xfrm>
            <a:off x="548640" y="365760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4"/>
          <p:cNvSpPr txBox="1"/>
          <p:nvPr/>
        </p:nvSpPr>
        <p:spPr>
          <a:xfrm>
            <a:off x="2377440" y="594360"/>
            <a:ext cx="1353312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Font typeface="Antonio"/>
              <a:buNone/>
            </a:pPr>
            <a:r>
              <a:rPr b="0" i="0" lang="en-US" sz="8000" u="none" cap="none" strike="noStrike">
                <a:solidFill>
                  <a:schemeClr val="lt1"/>
                </a:solidFill>
                <a:latin typeface="Antonio"/>
                <a:ea typeface="Antonio"/>
                <a:cs typeface="Antonio"/>
                <a:sym typeface="Antonio"/>
              </a:rPr>
              <a:t>CONCLUSIÓN</a:t>
            </a:r>
            <a:endParaRPr b="0" i="0" sz="8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4"/>
          <p:cNvSpPr/>
          <p:nvPr/>
        </p:nvSpPr>
        <p:spPr>
          <a:xfrm>
            <a:off x="8412480" y="2468880"/>
            <a:ext cx="1463040" cy="54864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14"/>
          <p:cNvSpPr txBox="1"/>
          <p:nvPr/>
        </p:nvSpPr>
        <p:spPr>
          <a:xfrm>
            <a:off x="3291840" y="3108960"/>
            <a:ext cx="11704320" cy="548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Calibri"/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En el Sprint 2 el equipo construyó el MVP de Mini-Trabajo: 14 de 15 historias del backlog están en Hecho. La aplicación responde a la necesidad de coordinar tareas ocasionales urbanas en Chile mediante la búsqueda por cercanía, la postulación y aceptación entre las partes, la coordinación por WhatsApp y la validación por perfiles y calificaciones. Trabajar en ciclos cortos permitió adaptarnos a los cambios de arquitectura y de flujo.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5"/>
          <p:cNvSpPr txBox="1"/>
          <p:nvPr/>
        </p:nvSpPr>
        <p:spPr>
          <a:xfrm>
            <a:off x="1828800" y="2926080"/>
            <a:ext cx="146304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Font typeface="Calibri"/>
              <a:buNone/>
            </a:pPr>
            <a:r>
              <a:rPr b="0" i="0" lang="en-US" sz="8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Gracias por su atención</a:t>
            </a:r>
            <a:endParaRPr b="0" i="0" sz="8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MiniTrabajo Duoc">
  <a:themeElements>
    <a:clrScheme name="MiniTrabajo Duoc">
      <a:dk1>
        <a:srgbClr val="1A1A1A"/>
      </a:dk1>
      <a:lt1>
        <a:srgbClr val="FFFFFF"/>
      </a:lt1>
      <a:dk2>
        <a:srgbClr val="333333"/>
      </a:dk2>
      <a:lt2>
        <a:srgbClr val="F2F2F2"/>
      </a:lt2>
      <a:accent1>
        <a:srgbClr val="E30613"/>
      </a:accent1>
      <a:accent2>
        <a:srgbClr val="520B07"/>
      </a:accent2>
      <a:accent3>
        <a:srgbClr val="9A1E14"/>
      </a:accent3>
      <a:accent4>
        <a:srgbClr val="F2A900"/>
      </a:accent4>
      <a:accent5>
        <a:srgbClr val="9A9A9A"/>
      </a:accent5>
      <a:accent6>
        <a:srgbClr val="0D0D0D"/>
      </a:accent6>
      <a:hlink>
        <a:srgbClr val="E30613"/>
      </a:hlink>
      <a:folHlink>
        <a:srgbClr val="9A9A9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Beach Day">
  <a:themeElements>
    <a:clrScheme name="Beach Day">
      <a:dk1>
        <a:srgbClr val="00FDC8"/>
      </a:dk1>
      <a:lt1>
        <a:srgbClr val="FFFFFF"/>
      </a:lt1>
      <a:dk2>
        <a:srgbClr val="666666"/>
      </a:dk2>
      <a:lt2>
        <a:srgbClr val="EEEEEE"/>
      </a:lt2>
      <a:accent1>
        <a:srgbClr val="212121"/>
      </a:accent1>
      <a:accent2>
        <a:srgbClr val="455A64"/>
      </a:accent2>
      <a:accent3>
        <a:srgbClr val="78909C"/>
      </a:accent3>
      <a:accent4>
        <a:srgbClr val="7C7CE0"/>
      </a:accent4>
      <a:accent5>
        <a:srgbClr val="DB4437"/>
      </a:accent5>
      <a:accent6>
        <a:srgbClr val="F6CD4C"/>
      </a:accent6>
      <a:hlink>
        <a:srgbClr val="DB4437"/>
      </a:hlink>
      <a:folHlink>
        <a:srgbClr val="DB443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2026-10-15T19:19:22Z</dcterms:created>
  <dc:creator>Equipo Mini-Trabajo</dc:creator>
</cp:coreProperties>
</file>